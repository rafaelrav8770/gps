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3" r:id="rId3"/>
    <p:sldId id="258" r:id="rId4"/>
    <p:sldId id="303" r:id="rId5"/>
    <p:sldId id="319" r:id="rId6"/>
    <p:sldId id="320" r:id="rId7"/>
    <p:sldId id="337" r:id="rId8"/>
    <p:sldId id="339" r:id="rId9"/>
    <p:sldId id="340" r:id="rId10"/>
    <p:sldId id="341" r:id="rId11"/>
    <p:sldId id="321" r:id="rId12"/>
    <p:sldId id="345" r:id="rId13"/>
    <p:sldId id="346" r:id="rId14"/>
    <p:sldId id="342" r:id="rId15"/>
    <p:sldId id="324" r:id="rId16"/>
    <p:sldId id="260" r:id="rId17"/>
    <p:sldId id="318"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01/11/2026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01/11/2026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omg.org/spec/UML/2.5.1/" TargetMode="External"/><Relationship Id="rId2" Type="http://schemas.openxmlformats.org/officeDocument/2006/relationships/hyperlink" Target="https://github.com/rafaelrav8770/GPS.git" TargetMode="External"/><Relationship Id="rId1" Type="http://schemas.openxmlformats.org/officeDocument/2006/relationships/slideLayout" Target="../slideLayouts/slideLayout2.xml"/><Relationship Id="rId6" Type="http://schemas.openxmlformats.org/officeDocument/2006/relationships/hyperlink" Target="https://vercel.com/pricing" TargetMode="External"/><Relationship Id="rId5" Type="http://schemas.openxmlformats.org/officeDocument/2006/relationships/hyperlink" Target="https://supabase.com/pricing" TargetMode="External"/><Relationship Id="rId4" Type="http://schemas.openxmlformats.org/officeDocument/2006/relationships/hyperlink" Target="https://www.pmi.org/standards/pmbo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95648"/>
          </a:xfrm>
          <a:prstGeom prst="rect">
            <a:avLst/>
          </a:prstGeom>
          <a:noFill/>
        </p:spPr>
        <p:txBody>
          <a:bodyPr wrap="square">
            <a:spAutoFit/>
          </a:bodyPr>
          <a:lstStyle/>
          <a:p>
            <a:pPr algn="ctr">
              <a:lnSpc>
                <a:spcPct val="100000"/>
              </a:lnSpc>
              <a:spcAft>
                <a:spcPts val="800"/>
              </a:spcAft>
              <a:buNone/>
            </a:pPr>
            <a:r>
              <a:rPr lang="es-MX" sz="2000" b="1" kern="0" dirty="0">
                <a:latin typeface="Arial" panose="020B0604020202020204" pitchFamily="34" charset="0"/>
                <a:cs typeface="Arial" panose="020B0604020202020204" pitchFamily="34" charset="0"/>
              </a:rPr>
              <a:t>GESTIÓN DE PROYECTOS DE SOFTWARE</a:t>
            </a: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.2 –REPORTE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61639978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effectLst/>
                <a:latin typeface="Arial" panose="020B0604020202020204" pitchFamily="34" charset="0"/>
                <a:ea typeface="Times New Roman" panose="02020603050405020304" pitchFamily="18" charset="0"/>
                <a:cs typeface="Arial" panose="020B0604020202020204" pitchFamily="34" charset="0"/>
              </a:rPr>
              <a:t>20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a:t>
            </a:r>
            <a:r>
              <a:rPr lang="es-MX" sz="2000" b="1" kern="0" dirty="0">
                <a:latin typeface="Arial" panose="020B0604020202020204" pitchFamily="34" charset="0"/>
                <a:ea typeface="Times New Roman" panose="02020603050405020304" pitchFamily="18" charset="0"/>
                <a:cs typeface="Arial" panose="020B0604020202020204" pitchFamily="34" charset="0"/>
              </a:rPr>
              <a:t>OCTUBRE</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5200" b="1" kern="0" dirty="0">
                <a:solidFill>
                  <a:schemeClr val="accent1"/>
                </a:solidFill>
                <a:latin typeface="+mj-lt"/>
                <a:cs typeface="Arial" panose="020B0604020202020204" pitchFamily="34" charset="0"/>
              </a:rPr>
              <a:t>Introducción</a:t>
            </a:r>
          </a:p>
          <a:p>
            <a:pPr marL="0" indent="0" algn="just">
              <a:buNone/>
            </a:pPr>
            <a:r>
              <a:rPr lang="es-MX" dirty="0"/>
              <a:t>El presente reporte aplica la gestión de proyectos de software a una problemática real de mi entorno: el control de los pedidos de agua en pipa del negocio Agua Limpia La Aurora. Se describe cómo se definió el proyecto, sus objetivos, los procesos que atiende el sistema, las personas involucradas y el cronograma con el que se desarrolló.</a:t>
            </a:r>
          </a:p>
          <a:p>
            <a:pPr marL="0" indent="0" algn="just">
              <a:buNone/>
            </a:pPr>
            <a:r>
              <a:rPr lang="es-MX" dirty="0"/>
              <a:t>A lo largo del reporte se presentan también el diagrama UML de casos de uso, el modelo de datos, los wireframes de las pantallas, la evidencia del repositorio, la triple restricción y el avance registrado hasta la fecha.</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normAutofit/>
          </a:bodyPr>
          <a:lstStyle/>
          <a:p>
            <a:pPr marL="0" indent="0">
              <a:spcBef>
                <a:spcPct val="0"/>
              </a:spcBef>
              <a:buNone/>
            </a:pPr>
            <a:r>
              <a:rPr lang="es-MX" sz="4800" b="1" dirty="0">
                <a:solidFill>
                  <a:schemeClr val="accent1"/>
                </a:solidFill>
                <a:latin typeface="+mj-lt"/>
                <a:ea typeface="+mj-ea"/>
                <a:cs typeface="+mj-cs"/>
              </a:rPr>
              <a:t>Objetivo</a:t>
            </a:r>
          </a:p>
          <a:p>
            <a:pPr marL="0" indent="0">
              <a:buNone/>
            </a:pPr>
            <a:r>
              <a:rPr lang="es-MX" dirty="0"/>
              <a:t> </a:t>
            </a:r>
          </a:p>
        </p:txBody>
      </p:sp>
      <p:sp>
        <p:nvSpPr>
          <p:cNvPr id="4" name="CuadroTexto 3">
            <a:extLst>
              <a:ext uri="{FF2B5EF4-FFF2-40B4-BE49-F238E27FC236}">
                <a16:creationId xmlns:a16="http://schemas.microsoft.com/office/drawing/2014/main" id="{F84CD005-444C-BCE1-5383-69207A0A2786}"/>
              </a:ext>
            </a:extLst>
          </p:cNvPr>
          <p:cNvSpPr txBox="1"/>
          <p:nvPr/>
        </p:nvSpPr>
        <p:spPr>
          <a:xfrm>
            <a:off x="1162049" y="3087753"/>
            <a:ext cx="10515599" cy="2484372"/>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lgn="just">
              <a:buNone/>
            </a:pPr>
            <a:r>
              <a:rPr lang="es-MX" dirty="0"/>
              <a:t>Aplicar los conceptos fundamentales de la gestión de proyectos (definición del alcance, objetivos, procesos, responsables, cronograma y triple restricción) a una problemática real de mi entorno, el control de pedidos de pipas de agua de Agua Limpia La Aurora, y modelarla mediante un diagrama UML de casos de uso.</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marL="0" indent="0">
              <a:buNone/>
            </a:pPr>
            <a:r>
              <a:rPr lang="es-MX" dirty="0"/>
              <a:t>Los negocios pequeños como Agua Limpia La Aurora suelen llevar sus pedidos en libretas o mensajes del celular, lo que provoca pedidos olvidados o agendados a la misma hora, clientes que quedan a deber sin seguimiento y desconocimiento de la utilidad real del negocio. Tratar la solución como un proyecto formal permite definir desde el inicio qué se va a construir, quién participa, en cuánto tiempo y con qué recursos, y dar seguimiento al avance con evidencia, en lugar de desarrollar una aplicación de forma improvisada.</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A2BA0A-607E-FFBA-A919-B8C6D14DD468}"/>
              </a:ext>
            </a:extLst>
          </p:cNvPr>
          <p:cNvSpPr>
            <a:spLocks noGrp="1"/>
          </p:cNvSpPr>
          <p:nvPr>
            <p:ph type="title"/>
          </p:nvPr>
        </p:nvSpPr>
        <p:spPr>
          <a:xfrm>
            <a:off x="838200" y="1"/>
            <a:ext cx="10515600" cy="2236442"/>
          </a:xfrm>
        </p:spPr>
        <p:txBody>
          <a:bodyPr vert="horz" lIns="91440" tIns="45720" rIns="91440" bIns="45720" rtlCol="0" anchor="ctr">
            <a:noAutofit/>
          </a:bodyPr>
          <a:lstStyle/>
          <a:p>
            <a:r>
              <a:rPr lang="es-MX" sz="3600" b="1" dirty="0">
                <a:solidFill>
                  <a:schemeClr val="accent1"/>
                </a:solidFill>
              </a:rPr>
              <a:t>PROYECTO</a:t>
            </a:r>
            <a:br>
              <a:rPr lang="es-MX" sz="3600" b="1" dirty="0">
                <a:solidFill>
                  <a:schemeClr val="accent1"/>
                </a:solidFill>
              </a:rPr>
            </a:br>
            <a:r>
              <a:rPr lang="es-MX" sz="3600" b="1" dirty="0">
                <a:solidFill>
                  <a:schemeClr val="accent1"/>
                </a:solidFill>
              </a:rPr>
              <a:t>Rafael Aquino Villanueva</a:t>
            </a:r>
            <a:br>
              <a:rPr lang="es-MX" sz="3600" b="1" dirty="0">
                <a:solidFill>
                  <a:schemeClr val="accent1"/>
                </a:solidFill>
              </a:rPr>
            </a:br>
            <a:r>
              <a:rPr lang="es-MX" sz="3600" b="1" dirty="0">
                <a:solidFill>
                  <a:schemeClr val="accent1"/>
                </a:solidFill>
              </a:rPr>
              <a:t>Pedidos de Pipas · Agua Limpia La Aurora</a:t>
            </a:r>
          </a:p>
        </p:txBody>
      </p:sp>
      <p:sp>
        <p:nvSpPr>
          <p:cNvPr id="3" name="Marcador de contenido 2">
            <a:extLst>
              <a:ext uri="{FF2B5EF4-FFF2-40B4-BE49-F238E27FC236}">
                <a16:creationId xmlns:a16="http://schemas.microsoft.com/office/drawing/2014/main" id="{B3997388-5E15-DD13-3D56-F714069EEFC7}"/>
              </a:ext>
            </a:extLst>
          </p:cNvPr>
          <p:cNvSpPr>
            <a:spLocks noGrp="1"/>
          </p:cNvSpPr>
          <p:nvPr>
            <p:ph idx="1"/>
          </p:nvPr>
        </p:nvSpPr>
        <p:spPr>
          <a:xfrm>
            <a:off x="838200" y="2236442"/>
            <a:ext cx="10515600" cy="4351338"/>
          </a:xfrm>
        </p:spPr>
        <p:txBody>
          <a:bodyPr>
            <a:normAutofit fontScale="77500" lnSpcReduction="20000"/>
          </a:bodyPr>
          <a:lstStyle/>
          <a:p>
            <a:pPr marL="0" indent="0">
              <a:buNone/>
            </a:pPr>
            <a:r>
              <a:rPr lang="es-MX" b="1" cap="all" dirty="0"/>
              <a:t>De qué trata</a:t>
            </a:r>
          </a:p>
          <a:p>
            <a:pPr marL="0" indent="0">
              <a:buNone/>
            </a:pPr>
            <a:r>
              <a:rPr lang="es-MX" dirty="0"/>
              <a:t>El proyecto es un sistema web, pensado para usarse desde el celular, que administra los pedidos de agua en pipa del negocio Agua Limpia La Aurora: desde que el cliente llama para pedir una pipa hasta que el pedido se entrega y se cobra. También lleva el control de los clientes que quedan a deber (fiados), de los gastos de operación y de los cortes de caja.</a:t>
            </a:r>
          </a:p>
          <a:p>
            <a:pPr marL="0" indent="0">
              <a:buNone/>
            </a:pPr>
            <a:r>
              <a:rPr lang="es-MX" b="1" cap="all" dirty="0"/>
              <a:t>Problema que busca atender</a:t>
            </a:r>
          </a:p>
          <a:p>
            <a:pPr marL="0" indent="0">
              <a:buNone/>
            </a:pPr>
            <a:r>
              <a:rPr lang="es-MX" dirty="0"/>
              <a:t>Los pedidos, cobros y gastos se controlaban de forma manual, lo que generaba pedidos olvidados o agendados a la misma hora, cuentas por cobrar sin seguimiento y falta de información sobre los ingresos, los egresos y la utilidad del negocio.</a:t>
            </a:r>
          </a:p>
          <a:p>
            <a:pPr marL="0" indent="0">
              <a:buNone/>
            </a:pPr>
            <a:r>
              <a:rPr lang="es-MX" b="1" cap="all" dirty="0"/>
              <a:t>Objetivo</a:t>
            </a:r>
          </a:p>
          <a:p>
            <a:pPr marL="0" indent="0">
              <a:buNone/>
            </a:pPr>
            <a:r>
              <a:rPr lang="es-MX" dirty="0"/>
              <a:t>Desarrollar e implementar un sistema web para administrar los pedidos de pipas de agua que reduzca los pedidos olvidados y los cobros pendientes, y que ofrezca a los dueños un corte diario y un resumen mensual de su operación.</a:t>
            </a:r>
          </a:p>
        </p:txBody>
      </p:sp>
    </p:spTree>
    <p:extLst>
      <p:ext uri="{BB962C8B-B14F-4D97-AF65-F5344CB8AC3E}">
        <p14:creationId xmlns:p14="http://schemas.microsoft.com/office/powerpoint/2010/main" val="54114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DF5298F-390E-AC2B-7069-D09DEC8C8905}"/>
              </a:ext>
            </a:extLst>
          </p:cNvPr>
          <p:cNvSpPr>
            <a:spLocks noGrp="1"/>
          </p:cNvSpPr>
          <p:nvPr>
            <p:ph idx="1"/>
          </p:nvPr>
        </p:nvSpPr>
        <p:spPr>
          <a:xfrm>
            <a:off x="838200" y="1009650"/>
            <a:ext cx="10515600" cy="5167313"/>
          </a:xfrm>
        </p:spPr>
        <p:txBody>
          <a:bodyPr>
            <a:normAutofit fontScale="92500" lnSpcReduction="20000"/>
          </a:bodyPr>
          <a:lstStyle/>
          <a:p>
            <a:pPr marL="0" indent="0">
              <a:buNone/>
            </a:pPr>
            <a:r>
              <a:rPr lang="es-MX" b="1" cap="all" dirty="0"/>
              <a:t>Qué se quiere lograr</a:t>
            </a:r>
          </a:p>
          <a:p>
            <a:pPr marL="0" indent="0">
              <a:buNone/>
            </a:pPr>
            <a:r>
              <a:rPr lang="es-MX" dirty="0"/>
              <a:t>Contar con una agenda única sin horarios empalmados, saber en todo momento cuánto debe cada cliente y conocer cada día los ingresos, egresos, utilidad y margen del negocio, con un recordatorio 30 minutos antes de cada entrega.</a:t>
            </a:r>
          </a:p>
          <a:p>
            <a:pPr marL="0" indent="0">
              <a:buNone/>
            </a:pPr>
            <a:r>
              <a:rPr lang="es-MX" b="1" cap="all" dirty="0"/>
              <a:t>Procesos principales del proyecto</a:t>
            </a:r>
          </a:p>
          <a:p>
            <a:pPr>
              <a:buFont typeface="Wingdings" panose="05000000000000000000" pitchFamily="2" charset="2"/>
              <a:buChar char="Ø"/>
            </a:pPr>
            <a:r>
              <a:rPr lang="es-MX" b="1" dirty="0"/>
              <a:t> </a:t>
            </a:r>
            <a:r>
              <a:rPr lang="es-MX" dirty="0"/>
              <a:t>Recepción y registro del pedido (cliente, dirección, fecha, hora y precio)</a:t>
            </a:r>
          </a:p>
          <a:p>
            <a:pPr>
              <a:buFont typeface="Wingdings" panose="05000000000000000000" pitchFamily="2" charset="2"/>
              <a:buChar char="Ø"/>
            </a:pPr>
            <a:r>
              <a:rPr lang="es-MX" b="1" dirty="0"/>
              <a:t> </a:t>
            </a:r>
            <a:r>
              <a:rPr lang="es-MX" dirty="0"/>
              <a:t>Programación en la agenda por día y por semana</a:t>
            </a:r>
          </a:p>
          <a:p>
            <a:pPr>
              <a:buFont typeface="Wingdings" panose="05000000000000000000" pitchFamily="2" charset="2"/>
              <a:buChar char="Ø"/>
            </a:pPr>
            <a:r>
              <a:rPr lang="es-MX" b="1" dirty="0"/>
              <a:t> </a:t>
            </a:r>
            <a:r>
              <a:rPr lang="es-MX" dirty="0"/>
              <a:t>Entrega de la pipa y actualización del estado del pedido</a:t>
            </a:r>
          </a:p>
          <a:p>
            <a:pPr>
              <a:buFont typeface="Wingdings" panose="05000000000000000000" pitchFamily="2" charset="2"/>
              <a:buChar char="Ø"/>
            </a:pPr>
            <a:r>
              <a:rPr lang="es-MX" b="1" dirty="0"/>
              <a:t> </a:t>
            </a:r>
            <a:r>
              <a:rPr lang="es-MX" dirty="0"/>
              <a:t>Cobro en efectivo o transferencia, o registro como fiado</a:t>
            </a:r>
          </a:p>
          <a:p>
            <a:pPr>
              <a:buFont typeface="Wingdings" panose="05000000000000000000" pitchFamily="2" charset="2"/>
              <a:buChar char="Ø"/>
            </a:pPr>
            <a:r>
              <a:rPr lang="es-MX" b="1" dirty="0"/>
              <a:t> </a:t>
            </a:r>
            <a:r>
              <a:rPr lang="es-MX" dirty="0"/>
              <a:t>Registro de egresos (combustible, mantenimiento, nómina, servicios y otros)</a:t>
            </a:r>
          </a:p>
          <a:p>
            <a:pPr>
              <a:buFont typeface="Wingdings" panose="05000000000000000000" pitchFamily="2" charset="2"/>
              <a:buChar char="Ø"/>
            </a:pPr>
            <a:r>
              <a:rPr lang="es-MX" b="1" dirty="0"/>
              <a:t> </a:t>
            </a:r>
            <a:r>
              <a:rPr lang="es-MX" dirty="0"/>
              <a:t>Corte diario y resumen mensual</a:t>
            </a:r>
          </a:p>
        </p:txBody>
      </p:sp>
    </p:spTree>
    <p:extLst>
      <p:ext uri="{BB962C8B-B14F-4D97-AF65-F5344CB8AC3E}">
        <p14:creationId xmlns:p14="http://schemas.microsoft.com/office/powerpoint/2010/main" val="193965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C2C70-18AF-E92D-7853-85C8D92CC06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Diagrama UML de casos de uso</a:t>
            </a:r>
          </a:p>
        </p:txBody>
      </p:sp>
      <p:sp>
        <p:nvSpPr>
          <p:cNvPr id="17" name="CuadroTexto 16">
            <a:extLst>
              <a:ext uri="{FF2B5EF4-FFF2-40B4-BE49-F238E27FC236}">
                <a16:creationId xmlns:a16="http://schemas.microsoft.com/office/drawing/2014/main" id="{B6E89C02-52A4-425C-3D03-97393022A19C}"/>
              </a:ext>
            </a:extLst>
          </p:cNvPr>
          <p:cNvSpPr txBox="1"/>
          <p:nvPr/>
        </p:nvSpPr>
        <p:spPr>
          <a:xfrm>
            <a:off x="6800000" y="1650000"/>
            <a:ext cx="4950000" cy="2539157"/>
          </a:xfrm>
          <a:prstGeom prst="rect">
            <a:avLst/>
          </a:prstGeom>
          <a:noFill/>
        </p:spPr>
        <p:txBody>
          <a:bodyPr wrap="square">
            <a:spAutoFit/>
          </a:bodyPr>
          <a:lstStyle/>
          <a:p>
            <a:pPr>
              <a:spcAft>
                <a:spcPts val="900"/>
              </a:spcAft>
              <a:buNone/>
            </a:pPr>
            <a:r>
              <a:rPr lang="es-MX" sz="1600" b="1" dirty="0">
                <a:solidFill>
                  <a:schemeClr val="tx1"/>
                </a:solidFill>
                <a:latin typeface="+mn-lt"/>
              </a:rPr>
              <a:t>Administrador: </a:t>
            </a:r>
            <a:r>
              <a:rPr lang="es-MX" sz="1600" dirty="0">
                <a:solidFill>
                  <a:schemeClr val="tx1"/>
                </a:solidFill>
                <a:latin typeface="+mn-lt"/>
              </a:rPr>
              <a:t>los dueños del negocio; registran pedidos, cobros y egresos, y consultan la agenda, los fiados y los reportes.</a:t>
            </a:r>
          </a:p>
          <a:p>
            <a:pPr>
              <a:spcAft>
                <a:spcPts val="900"/>
              </a:spcAft>
              <a:buNone/>
            </a:pPr>
            <a:r>
              <a:rPr lang="es-MX" sz="1600" b="1" dirty="0"/>
              <a:t>Chofer de reparto:</a:t>
            </a:r>
            <a:r>
              <a:rPr lang="es-MX" sz="1600" dirty="0"/>
              <a:t> consulta la agenda del día y cobra el pedido al entregarlo, en efectivo o por transferencia (rol  que también es administrador).</a:t>
            </a:r>
          </a:p>
          <a:p>
            <a:pPr>
              <a:spcAft>
                <a:spcPts val="900"/>
              </a:spcAft>
              <a:buNone/>
            </a:pPr>
            <a:r>
              <a:rPr lang="es-MX" sz="1600" b="1" dirty="0">
                <a:solidFill>
                  <a:schemeClr val="tx1"/>
                </a:solidFill>
                <a:latin typeface="+mn-lt"/>
              </a:rPr>
              <a:t>«include» y «extend»: </a:t>
            </a:r>
            <a:r>
              <a:rPr lang="es-MX" sz="1600" dirty="0">
                <a:solidFill>
                  <a:schemeClr val="tx1"/>
                </a:solidFill>
                <a:latin typeface="+mn-lt"/>
              </a:rPr>
              <a:t>registrar un pedido siempre verifica que el horario esté libre; cobrar un pedido o liquidar un fiado solo ocurre cuando el cliente paga.</a:t>
            </a:r>
          </a:p>
        </p:txBody>
      </p:sp>
      <p:pic>
        <p:nvPicPr>
          <p:cNvPr id="6" name="Imagen 5">
            <a:extLst>
              <a:ext uri="{FF2B5EF4-FFF2-40B4-BE49-F238E27FC236}">
                <a16:creationId xmlns:a16="http://schemas.microsoft.com/office/drawing/2014/main" id="{9DD275AA-CC73-FBF3-6537-715068A0AD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51008"/>
            <a:ext cx="5669387" cy="4617776"/>
          </a:xfrm>
          <a:prstGeom prst="rect">
            <a:avLst/>
          </a:prstGeom>
        </p:spPr>
      </p:pic>
    </p:spTree>
    <p:extLst>
      <p:ext uri="{BB962C8B-B14F-4D97-AF65-F5344CB8AC3E}">
        <p14:creationId xmlns:p14="http://schemas.microsoft.com/office/powerpoint/2010/main" val="1987201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C2C70-18AF-E92D-7853-85C8D92CC06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Modelo de datos</a:t>
            </a:r>
          </a:p>
        </p:txBody>
      </p:sp>
      <p:pic>
        <p:nvPicPr>
          <p:cNvPr id="4" name="Imagen 3">
            <a:extLst>
              <a:ext uri="{FF2B5EF4-FFF2-40B4-BE49-F238E27FC236}">
                <a16:creationId xmlns:a16="http://schemas.microsoft.com/office/drawing/2014/main" id="{F4B18D58-AC22-8377-5DE5-D040804C24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342" y="1378994"/>
            <a:ext cx="9155575" cy="5259245"/>
          </a:xfrm>
          <a:prstGeom prst="rect">
            <a:avLst/>
          </a:prstGeom>
        </p:spPr>
      </p:pic>
    </p:spTree>
    <p:extLst>
      <p:ext uri="{BB962C8B-B14F-4D97-AF65-F5344CB8AC3E}">
        <p14:creationId xmlns:p14="http://schemas.microsoft.com/office/powerpoint/2010/main" val="1987201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C2C70-18AF-E92D-7853-85C8D92CC06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Balsamiq</a:t>
            </a:r>
            <a:r>
              <a:rPr lang="es-MX" sz="4800" dirty="0">
                <a:ea typeface="Calibri" panose="020F0502020204030204" pitchFamily="34" charset="0"/>
              </a:rPr>
              <a:t> </a:t>
            </a:r>
            <a:r>
              <a:rPr lang="es-MX" sz="4800" b="1" dirty="0" err="1">
                <a:solidFill>
                  <a:schemeClr val="accent1"/>
                </a:solidFill>
              </a:rPr>
              <a:t>Wireframes</a:t>
            </a:r>
            <a:r>
              <a:rPr lang="es-MX" sz="4800" b="1" dirty="0">
                <a:solidFill>
                  <a:schemeClr val="accent1"/>
                </a:solidFill>
              </a:rPr>
              <a:t> de las pantallas (1/2)</a:t>
            </a:r>
          </a:p>
        </p:txBody>
      </p:sp>
      <p:sp>
        <p:nvSpPr>
          <p:cNvPr id="17" name="CuadroTexto 16">
            <a:extLst>
              <a:ext uri="{FF2B5EF4-FFF2-40B4-BE49-F238E27FC236}">
                <a16:creationId xmlns:a16="http://schemas.microsoft.com/office/drawing/2014/main" id="{B6E89C02-52A4-425C-3D03-97393022A19C}"/>
              </a:ext>
            </a:extLst>
          </p:cNvPr>
          <p:cNvSpPr txBox="1"/>
          <p:nvPr/>
        </p:nvSpPr>
        <p:spPr>
          <a:xfrm>
            <a:off x="838200" y="6080000"/>
            <a:ext cx="10515600" cy="369332"/>
          </a:xfrm>
          <a:prstGeom prst="rect">
            <a:avLst/>
          </a:prstGeom>
          <a:noFill/>
        </p:spPr>
        <p:txBody>
          <a:bodyPr wrap="square">
            <a:spAutoFit/>
          </a:bodyPr>
          <a:lstStyle/>
          <a:p>
            <a:pPr algn="just">
              <a:lnSpc>
                <a:spcPct val="100000"/>
              </a:lnSpc>
              <a:spcAft>
                <a:spcPts val="700"/>
              </a:spcAft>
              <a:buNone/>
            </a:pPr>
            <a:r>
              <a:rPr lang="es-MX" sz="1800" dirty="0">
                <a:solidFill>
                  <a:schemeClr val="tx1"/>
                </a:solidFill>
                <a:effectLst/>
                <a:latin typeface="+mn-lt"/>
                <a:ea typeface="Calibri" panose="020F0502020204030204" pitchFamily="34" charset="0"/>
              </a:rPr>
              <a:t>Pantallas diseñadas en Balsamiq: acceso, resumen del día, pedidos activos, nuevo pedido y agenda semanal.</a:t>
            </a:r>
            <a:endParaRPr lang="es-MX" sz="1000" dirty="0">
              <a:effectLst/>
              <a:latin typeface="Times New Roman" panose="02020603050405020304" pitchFamily="18" charset="0"/>
              <a:ea typeface="Times New Roman" panose="02020603050405020304" pitchFamily="18" charset="0"/>
            </a:endParaRPr>
          </a:p>
        </p:txBody>
      </p:sp>
      <p:pic>
        <p:nvPicPr>
          <p:cNvPr id="4" name="Imagen 3">
            <a:extLst>
              <a:ext uri="{FF2B5EF4-FFF2-40B4-BE49-F238E27FC236}">
                <a16:creationId xmlns:a16="http://schemas.microsoft.com/office/drawing/2014/main" id="{E6E94348-167F-9D84-328E-E577039896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6362" y="3792749"/>
            <a:ext cx="3200000" cy="1800000"/>
          </a:xfrm>
          <a:prstGeom prst="rect">
            <a:avLst/>
          </a:prstGeom>
        </p:spPr>
      </p:pic>
      <p:pic>
        <p:nvPicPr>
          <p:cNvPr id="6" name="Imagen 5">
            <a:extLst>
              <a:ext uri="{FF2B5EF4-FFF2-40B4-BE49-F238E27FC236}">
                <a16:creationId xmlns:a16="http://schemas.microsoft.com/office/drawing/2014/main" id="{61DEC5E6-DFA8-2057-E130-8C03438BCD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413" y="3792749"/>
            <a:ext cx="3200000" cy="1800000"/>
          </a:xfrm>
          <a:prstGeom prst="rect">
            <a:avLst/>
          </a:prstGeom>
        </p:spPr>
      </p:pic>
      <p:pic>
        <p:nvPicPr>
          <p:cNvPr id="8" name="Imagen 7">
            <a:extLst>
              <a:ext uri="{FF2B5EF4-FFF2-40B4-BE49-F238E27FC236}">
                <a16:creationId xmlns:a16="http://schemas.microsoft.com/office/drawing/2014/main" id="{29C513AF-F8DE-2CF8-53F8-BD29389FBD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482" y="1629000"/>
            <a:ext cx="3200000" cy="1800000"/>
          </a:xfrm>
          <a:prstGeom prst="rect">
            <a:avLst/>
          </a:prstGeom>
        </p:spPr>
      </p:pic>
      <p:pic>
        <p:nvPicPr>
          <p:cNvPr id="11" name="Imagen 10">
            <a:extLst>
              <a:ext uri="{FF2B5EF4-FFF2-40B4-BE49-F238E27FC236}">
                <a16:creationId xmlns:a16="http://schemas.microsoft.com/office/drawing/2014/main" id="{9F42E0F2-DF1B-7434-450C-90D1ED1082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2893" y="1629000"/>
            <a:ext cx="3200000" cy="1800000"/>
          </a:xfrm>
          <a:prstGeom prst="rect">
            <a:avLst/>
          </a:prstGeom>
        </p:spPr>
      </p:pic>
      <p:pic>
        <p:nvPicPr>
          <p:cNvPr id="13" name="Imagen 12">
            <a:extLst>
              <a:ext uri="{FF2B5EF4-FFF2-40B4-BE49-F238E27FC236}">
                <a16:creationId xmlns:a16="http://schemas.microsoft.com/office/drawing/2014/main" id="{13C0CC98-47D8-F7F7-DDE0-85767F44EC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1720" y="1629000"/>
            <a:ext cx="3200000" cy="1800000"/>
          </a:xfrm>
          <a:prstGeom prst="rect">
            <a:avLst/>
          </a:prstGeom>
        </p:spPr>
      </p:pic>
    </p:spTree>
    <p:extLst>
      <p:ext uri="{BB962C8B-B14F-4D97-AF65-F5344CB8AC3E}">
        <p14:creationId xmlns:p14="http://schemas.microsoft.com/office/powerpoint/2010/main" val="1987201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0C2C70-18AF-E92D-7853-85C8D92CC06A}"/>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Balsamiq</a:t>
            </a:r>
            <a:r>
              <a:rPr lang="es-MX" sz="4800" dirty="0">
                <a:ea typeface="Calibri" panose="020F0502020204030204" pitchFamily="34" charset="0"/>
              </a:rPr>
              <a:t> </a:t>
            </a:r>
            <a:r>
              <a:rPr lang="es-MX" sz="4800" b="1" dirty="0" err="1">
                <a:solidFill>
                  <a:schemeClr val="accent1"/>
                </a:solidFill>
              </a:rPr>
              <a:t>Wireframes</a:t>
            </a:r>
            <a:r>
              <a:rPr lang="es-MX" sz="4800" b="1" dirty="0">
                <a:solidFill>
                  <a:schemeClr val="accent1"/>
                </a:solidFill>
              </a:rPr>
              <a:t> de las pantallas (2/2)</a:t>
            </a:r>
          </a:p>
        </p:txBody>
      </p:sp>
      <p:sp>
        <p:nvSpPr>
          <p:cNvPr id="17" name="CuadroTexto 16">
            <a:extLst>
              <a:ext uri="{FF2B5EF4-FFF2-40B4-BE49-F238E27FC236}">
                <a16:creationId xmlns:a16="http://schemas.microsoft.com/office/drawing/2014/main" id="{B6E89C02-52A4-425C-3D03-97393022A19C}"/>
              </a:ext>
            </a:extLst>
          </p:cNvPr>
          <p:cNvSpPr txBox="1"/>
          <p:nvPr/>
        </p:nvSpPr>
        <p:spPr>
          <a:xfrm>
            <a:off x="838200" y="6080000"/>
            <a:ext cx="10515600" cy="369332"/>
          </a:xfrm>
          <a:prstGeom prst="rect">
            <a:avLst/>
          </a:prstGeom>
          <a:noFill/>
        </p:spPr>
        <p:txBody>
          <a:bodyPr wrap="square">
            <a:spAutoFit/>
          </a:bodyPr>
          <a:lstStyle/>
          <a:p>
            <a:pPr algn="just">
              <a:lnSpc>
                <a:spcPct val="100000"/>
              </a:lnSpc>
              <a:spcAft>
                <a:spcPts val="700"/>
              </a:spcAft>
              <a:buNone/>
            </a:pPr>
            <a:r>
              <a:rPr lang="es-MX" sz="1800" dirty="0">
                <a:solidFill>
                  <a:schemeClr val="tx1"/>
                </a:solidFill>
                <a:effectLst/>
                <a:latin typeface="+mn-lt"/>
                <a:ea typeface="Calibri" panose="020F0502020204030204" pitchFamily="34" charset="0"/>
              </a:rPr>
              <a:t>Pantallas de fiados, egresos, nuevo egreso, reportes financieros e historial de pedidos.</a:t>
            </a:r>
            <a:endParaRPr lang="es-MX" sz="1000" dirty="0">
              <a:effectLst/>
              <a:latin typeface="Times New Roman" panose="02020603050405020304" pitchFamily="18" charset="0"/>
              <a:ea typeface="Times New Roman" panose="02020603050405020304" pitchFamily="18" charset="0"/>
            </a:endParaRPr>
          </a:p>
        </p:txBody>
      </p:sp>
      <p:pic>
        <p:nvPicPr>
          <p:cNvPr id="4" name="Imagen 3">
            <a:extLst>
              <a:ext uri="{FF2B5EF4-FFF2-40B4-BE49-F238E27FC236}">
                <a16:creationId xmlns:a16="http://schemas.microsoft.com/office/drawing/2014/main" id="{5320890D-6639-27CE-59C1-5BDB944C00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5513" y="3586973"/>
            <a:ext cx="3200000" cy="1800000"/>
          </a:xfrm>
          <a:prstGeom prst="rect">
            <a:avLst/>
          </a:prstGeom>
        </p:spPr>
      </p:pic>
      <p:pic>
        <p:nvPicPr>
          <p:cNvPr id="6" name="Imagen 5">
            <a:extLst>
              <a:ext uri="{FF2B5EF4-FFF2-40B4-BE49-F238E27FC236}">
                <a16:creationId xmlns:a16="http://schemas.microsoft.com/office/drawing/2014/main" id="{C882AFF5-6F64-F6D2-CA3D-44F057DA1D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60280" y="1400536"/>
            <a:ext cx="3200000" cy="1800000"/>
          </a:xfrm>
          <a:prstGeom prst="rect">
            <a:avLst/>
          </a:prstGeom>
        </p:spPr>
      </p:pic>
      <p:pic>
        <p:nvPicPr>
          <p:cNvPr id="8" name="Imagen 7">
            <a:extLst>
              <a:ext uri="{FF2B5EF4-FFF2-40B4-BE49-F238E27FC236}">
                <a16:creationId xmlns:a16="http://schemas.microsoft.com/office/drawing/2014/main" id="{C129528F-85BC-8395-7E7D-854C78B7D4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6127" y="1400536"/>
            <a:ext cx="3200000" cy="1800000"/>
          </a:xfrm>
          <a:prstGeom prst="rect">
            <a:avLst/>
          </a:prstGeom>
        </p:spPr>
      </p:pic>
      <p:pic>
        <p:nvPicPr>
          <p:cNvPr id="11" name="Imagen 10">
            <a:extLst>
              <a:ext uri="{FF2B5EF4-FFF2-40B4-BE49-F238E27FC236}">
                <a16:creationId xmlns:a16="http://schemas.microsoft.com/office/drawing/2014/main" id="{8D3A0573-4F35-CEF4-DBB2-2B6438619A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1974" y="1400536"/>
            <a:ext cx="3200000" cy="1800000"/>
          </a:xfrm>
          <a:prstGeom prst="rect">
            <a:avLst/>
          </a:prstGeom>
        </p:spPr>
      </p:pic>
      <p:pic>
        <p:nvPicPr>
          <p:cNvPr id="13" name="Imagen 12">
            <a:extLst>
              <a:ext uri="{FF2B5EF4-FFF2-40B4-BE49-F238E27FC236}">
                <a16:creationId xmlns:a16="http://schemas.microsoft.com/office/drawing/2014/main" id="{FCF86D58-8E09-E21C-75F2-8A028675D9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00193" y="3586973"/>
            <a:ext cx="3200000" cy="1800000"/>
          </a:xfrm>
          <a:prstGeom prst="rect">
            <a:avLst/>
          </a:prstGeom>
        </p:spPr>
      </p:pic>
    </p:spTree>
    <p:extLst>
      <p:ext uri="{BB962C8B-B14F-4D97-AF65-F5344CB8AC3E}">
        <p14:creationId xmlns:p14="http://schemas.microsoft.com/office/powerpoint/2010/main" val="1987201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7905F-C5B6-7F91-E712-82B25DAF3C3A}"/>
              </a:ext>
            </a:extLst>
          </p:cNvPr>
          <p:cNvSpPr>
            <a:spLocks noGrp="1"/>
          </p:cNvSpPr>
          <p:nvPr>
            <p:ph type="title"/>
          </p:nvPr>
        </p:nvSpPr>
        <p:spPr/>
        <p:txBody>
          <a:bodyPr vert="horz" lIns="91440" tIns="45720" rIns="91440" bIns="45720" rtlCol="0">
            <a:normAutofit/>
          </a:bodyPr>
          <a:lstStyle/>
          <a:p>
            <a:pPr>
              <a:buFont typeface="Arial" panose="020B0604020202020204" pitchFamily="34" charset="0"/>
            </a:pPr>
            <a:r>
              <a:rPr lang="es-MX" sz="4800" b="1" dirty="0">
                <a:solidFill>
                  <a:schemeClr val="accent1"/>
                </a:solidFill>
              </a:rPr>
              <a:t>Personas / áreas involucradas</a:t>
            </a:r>
          </a:p>
        </p:txBody>
      </p:sp>
      <p:graphicFrame>
        <p:nvGraphicFramePr>
          <p:cNvPr id="4" name="Marcador de contenido 3">
            <a:extLst>
              <a:ext uri="{FF2B5EF4-FFF2-40B4-BE49-F238E27FC236}">
                <a16:creationId xmlns:a16="http://schemas.microsoft.com/office/drawing/2014/main" id="{30960F52-EED7-CDC5-D84D-3068287B548F}"/>
              </a:ext>
            </a:extLst>
          </p:cNvPr>
          <p:cNvGraphicFramePr>
            <a:graphicFrameLocks noGrp="1"/>
          </p:cNvGraphicFramePr>
          <p:nvPr>
            <p:ph idx="1"/>
            <p:extLst>
              <p:ext uri="{D42A27DB-BD31-4B8C-83A1-F6EECF244321}">
                <p14:modId xmlns:p14="http://schemas.microsoft.com/office/powerpoint/2010/main" val="2070187114"/>
              </p:ext>
            </p:extLst>
          </p:nvPr>
        </p:nvGraphicFramePr>
        <p:xfrm>
          <a:off x="1027043" y="2131412"/>
          <a:ext cx="10515600" cy="3185100"/>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3096912986"/>
                    </a:ext>
                  </a:extLst>
                </a:gridCol>
                <a:gridCol w="3505200">
                  <a:extLst>
                    <a:ext uri="{9D8B030D-6E8A-4147-A177-3AD203B41FA5}">
                      <a16:colId xmlns:a16="http://schemas.microsoft.com/office/drawing/2014/main" val="2550367083"/>
                    </a:ext>
                  </a:extLst>
                </a:gridCol>
                <a:gridCol w="3505200">
                  <a:extLst>
                    <a:ext uri="{9D8B030D-6E8A-4147-A177-3AD203B41FA5}">
                      <a16:colId xmlns:a16="http://schemas.microsoft.com/office/drawing/2014/main" val="1913501367"/>
                    </a:ext>
                  </a:extLst>
                </a:gridCol>
              </a:tblGrid>
              <a:tr h="480000">
                <a:tc>
                  <a:txBody>
                    <a:bodyPr/>
                    <a:lstStyle/>
                    <a:p>
                      <a:pPr>
                        <a:buNone/>
                      </a:pPr>
                      <a:r>
                        <a:rPr lang="es-MX" sz="1200" dirty="0">
                          <a:effectLst/>
                        </a:rPr>
                        <a:t>Área / Proceso</a:t>
                      </a:r>
                    </a:p>
                  </a:txBody>
                  <a:tcPr marL="57150" marR="57150" marT="57150" marB="57150" anchor="ctr"/>
                </a:tc>
                <a:tc>
                  <a:txBody>
                    <a:bodyPr/>
                    <a:lstStyle/>
                    <a:p>
                      <a:pPr>
                        <a:buNone/>
                      </a:pPr>
                      <a:r>
                        <a:rPr lang="es-MX" sz="1200" dirty="0">
                          <a:effectLst/>
                        </a:rPr>
                        <a:t>Persona asignada</a:t>
                      </a:r>
                    </a:p>
                  </a:txBody>
                  <a:tcPr marL="57150" marR="57150" marT="57150" marB="57150" anchor="ctr"/>
                </a:tc>
                <a:tc>
                  <a:txBody>
                    <a:bodyPr/>
                    <a:lstStyle/>
                    <a:p>
                      <a:pPr>
                        <a:buNone/>
                      </a:pPr>
                      <a:r>
                        <a:rPr lang="es-MX" sz="1200" dirty="0">
                          <a:effectLst/>
                        </a:rPr>
                        <a:t>Función principal</a:t>
                      </a:r>
                    </a:p>
                  </a:txBody>
                  <a:tcPr marL="57150" marR="57150" marT="57150" marB="57150" anchor="ctr"/>
                </a:tc>
                <a:extLst>
                  <a:ext uri="{0D108BD9-81ED-4DB2-BD59-A6C34878D82A}">
                    <a16:rowId xmlns:a16="http://schemas.microsoft.com/office/drawing/2014/main" val="10000"/>
                  </a:ext>
                </a:extLst>
              </a:tr>
              <a:tr h="480000">
                <a:tc>
                  <a:txBody>
                    <a:bodyPr/>
                    <a:lstStyle/>
                    <a:p>
                      <a:pPr>
                        <a:buNone/>
                      </a:pPr>
                      <a:r>
                        <a:rPr lang="es-MX" sz="1400" dirty="0">
                          <a:effectLst/>
                        </a:rPr>
                        <a:t>Dirección del proyecto</a:t>
                      </a:r>
                    </a:p>
                  </a:txBody>
                  <a:tcPr marL="57150" marR="57150" marT="57150" marB="57150" anchor="ctr"/>
                </a:tc>
                <a:tc>
                  <a:txBody>
                    <a:bodyPr/>
                    <a:lstStyle/>
                    <a:p>
                      <a:pPr>
                        <a:buNone/>
                      </a:pPr>
                      <a:r>
                        <a:rPr lang="es-MX" sz="1400" dirty="0">
                          <a:effectLst/>
                        </a:rPr>
                        <a:t>Rafael Aquino Villanueva</a:t>
                      </a:r>
                    </a:p>
                  </a:txBody>
                  <a:tcPr marL="57150" marR="57150" marT="57150" marB="57150" anchor="ctr"/>
                </a:tc>
                <a:tc>
                  <a:txBody>
                    <a:bodyPr/>
                    <a:lstStyle/>
                    <a:p>
                      <a:pPr>
                        <a:buNone/>
                      </a:pPr>
                      <a:r>
                        <a:rPr lang="es-MX" sz="1400" dirty="0">
                          <a:effectLst/>
                        </a:rPr>
                        <a:t>Planea, da seguimiento al cronograma y se comunica con los dueños</a:t>
                      </a:r>
                    </a:p>
                  </a:txBody>
                  <a:tcPr marL="57150" marR="57150" marT="57150" marB="57150" anchor="ctr"/>
                </a:tc>
                <a:extLst>
                  <a:ext uri="{0D108BD9-81ED-4DB2-BD59-A6C34878D82A}">
                    <a16:rowId xmlns:a16="http://schemas.microsoft.com/office/drawing/2014/main" val="10001"/>
                  </a:ext>
                </a:extLst>
              </a:tr>
              <a:tr h="480000">
                <a:tc>
                  <a:txBody>
                    <a:bodyPr/>
                    <a:lstStyle/>
                    <a:p>
                      <a:pPr>
                        <a:buNone/>
                      </a:pPr>
                      <a:r>
                        <a:rPr lang="es-MX" sz="1400" dirty="0">
                          <a:effectLst/>
                        </a:rPr>
                        <a:t>Análisis, desarrollo y pruebas</a:t>
                      </a:r>
                    </a:p>
                  </a:txBody>
                  <a:tcPr marL="57150" marR="57150" marT="57150" marB="57150" anchor="ctr"/>
                </a:tc>
                <a:tc>
                  <a:txBody>
                    <a:bodyPr/>
                    <a:lstStyle/>
                    <a:p>
                      <a:pPr>
                        <a:buNone/>
                      </a:pPr>
                      <a:r>
                        <a:rPr lang="es-MX" sz="1400" dirty="0">
                          <a:effectLst/>
                        </a:rPr>
                        <a:t>Rafael Aquino Villanueva</a:t>
                      </a:r>
                    </a:p>
                  </a:txBody>
                  <a:tcPr marL="57150" marR="57150" marT="57150" marB="57150" anchor="ctr"/>
                </a:tc>
                <a:tc>
                  <a:txBody>
                    <a:bodyPr/>
                    <a:lstStyle/>
                    <a:p>
                      <a:pPr>
                        <a:buNone/>
                      </a:pPr>
                      <a:r>
                        <a:rPr lang="es-MX" sz="1400" dirty="0">
                          <a:effectLst/>
                        </a:rPr>
                        <a:t>Levanta requerimientos, programa los módulos y prueba el sistema</a:t>
                      </a:r>
                    </a:p>
                  </a:txBody>
                  <a:tcPr marL="57150" marR="57150" marT="57150" marB="57150" anchor="ctr"/>
                </a:tc>
                <a:extLst>
                  <a:ext uri="{0D108BD9-81ED-4DB2-BD59-A6C34878D82A}">
                    <a16:rowId xmlns:a16="http://schemas.microsoft.com/office/drawing/2014/main" val="10002"/>
                  </a:ext>
                </a:extLst>
              </a:tr>
              <a:tr h="480000">
                <a:tc>
                  <a:txBody>
                    <a:bodyPr/>
                    <a:lstStyle/>
                    <a:p>
                      <a:pPr>
                        <a:buNone/>
                      </a:pPr>
                      <a:r>
                        <a:rPr lang="es-MX" sz="1400" dirty="0">
                          <a:effectLst/>
                        </a:rPr>
                        <a:t>Administración del negocio</a:t>
                      </a:r>
                    </a:p>
                  </a:txBody>
                  <a:tcPr marL="57150" marR="57150" marT="57150" marB="57150" anchor="ctr"/>
                </a:tc>
                <a:tc>
                  <a:txBody>
                    <a:bodyPr/>
                    <a:lstStyle/>
                    <a:p>
                      <a:pPr>
                        <a:buNone/>
                      </a:pPr>
                      <a:r>
                        <a:rPr lang="es-MX" sz="1400" dirty="0">
                          <a:effectLst/>
                        </a:rPr>
                        <a:t>Dueños de Agua Limpia La Aurora (chofer y esposa administradores)</a:t>
                      </a:r>
                    </a:p>
                  </a:txBody>
                  <a:tcPr marL="57150" marR="57150" marT="57150" marB="57150" anchor="ctr"/>
                </a:tc>
                <a:tc>
                  <a:txBody>
                    <a:bodyPr/>
                    <a:lstStyle/>
                    <a:p>
                      <a:pPr>
                        <a:buNone/>
                      </a:pPr>
                      <a:r>
                        <a:rPr lang="es-MX" sz="1400" dirty="0">
                          <a:effectLst/>
                        </a:rPr>
                        <a:t>Registran pedidos, cobros y egresos, y validan cada módulo</a:t>
                      </a:r>
                    </a:p>
                  </a:txBody>
                  <a:tcPr marL="57150" marR="57150" marT="57150" marB="57150" anchor="ctr"/>
                </a:tc>
                <a:extLst>
                  <a:ext uri="{0D108BD9-81ED-4DB2-BD59-A6C34878D82A}">
                    <a16:rowId xmlns:a16="http://schemas.microsoft.com/office/drawing/2014/main" val="10003"/>
                  </a:ext>
                </a:extLst>
              </a:tr>
              <a:tr h="480000">
                <a:tc>
                  <a:txBody>
                    <a:bodyPr/>
                    <a:lstStyle/>
                    <a:p>
                      <a:pPr>
                        <a:buNone/>
                      </a:pPr>
                      <a:r>
                        <a:rPr lang="es-MX" sz="1400" dirty="0">
                          <a:effectLst/>
                        </a:rPr>
                        <a:t>Reparto</a:t>
                      </a:r>
                    </a:p>
                  </a:txBody>
                  <a:tcPr marL="57150" marR="57150" marT="57150" marB="57150" anchor="ctr"/>
                </a:tc>
                <a:tc>
                  <a:txBody>
                    <a:bodyPr/>
                    <a:lstStyle/>
                    <a:p>
                      <a:pPr>
                        <a:buNone/>
                      </a:pPr>
                      <a:r>
                        <a:rPr lang="es-MX" sz="1400" dirty="0">
                          <a:effectLst/>
                        </a:rPr>
                        <a:t>Choferes de reparto las pipa</a:t>
                      </a:r>
                    </a:p>
                  </a:txBody>
                  <a:tcPr marL="57150" marR="57150" marT="57150" marB="57150" anchor="ctr"/>
                </a:tc>
                <a:tc>
                  <a:txBody>
                    <a:bodyPr/>
                    <a:lstStyle/>
                    <a:p>
                      <a:pPr>
                        <a:buNone/>
                      </a:pPr>
                      <a:r>
                        <a:rPr lang="es-MX" sz="1400" dirty="0">
                          <a:effectLst/>
                        </a:rPr>
                        <a:t>Entregan el agua en la dirección, la hora programadas y  cobra</a:t>
                      </a:r>
                    </a:p>
                  </a:txBody>
                  <a:tcPr marL="57150" marR="57150" marT="57150" marB="57150" anchor="ctr"/>
                </a:tc>
                <a:extLst>
                  <a:ext uri="{0D108BD9-81ED-4DB2-BD59-A6C34878D82A}">
                    <a16:rowId xmlns:a16="http://schemas.microsoft.com/office/drawing/2014/main" val="10004"/>
                  </a:ext>
                </a:extLst>
              </a:tr>
              <a:tr h="480000">
                <a:tc>
                  <a:txBody>
                    <a:bodyPr/>
                    <a:lstStyle/>
                    <a:p>
                      <a:pPr>
                        <a:buNone/>
                      </a:pPr>
                      <a:r>
                        <a:rPr lang="es-MX" sz="1400" dirty="0">
                          <a:effectLst/>
                        </a:rPr>
                        <a:t>Solicitud del servicio</a:t>
                      </a:r>
                    </a:p>
                  </a:txBody>
                  <a:tcPr marL="57150" marR="57150" marT="57150" marB="57150" anchor="ctr"/>
                </a:tc>
                <a:tc>
                  <a:txBody>
                    <a:bodyPr/>
                    <a:lstStyle/>
                    <a:p>
                      <a:pPr>
                        <a:buNone/>
                      </a:pPr>
                      <a:r>
                        <a:rPr lang="es-MX" sz="1400" dirty="0">
                          <a:effectLst/>
                        </a:rPr>
                        <a:t>Clientes (hogares y comercios)</a:t>
                      </a:r>
                    </a:p>
                  </a:txBody>
                  <a:tcPr marL="57150" marR="57150" marT="57150" marB="57150" anchor="ctr"/>
                </a:tc>
                <a:tc>
                  <a:txBody>
                    <a:bodyPr/>
                    <a:lstStyle/>
                    <a:p>
                      <a:pPr>
                        <a:buNone/>
                      </a:pPr>
                      <a:r>
                        <a:rPr lang="es-MX" sz="1400" dirty="0">
                          <a:effectLst/>
                        </a:rPr>
                        <a:t>Piden la pipa por teléfono y pagan al recibirla o después</a:t>
                      </a:r>
                    </a:p>
                  </a:txBody>
                  <a:tcPr marL="57150" marR="57150" marT="57150" marB="57150" anchor="ctr"/>
                </a:tc>
                <a:extLst>
                  <a:ext uri="{0D108BD9-81ED-4DB2-BD59-A6C34878D82A}">
                    <a16:rowId xmlns:a16="http://schemas.microsoft.com/office/drawing/2014/main" val="10005"/>
                  </a:ext>
                </a:extLst>
              </a:tr>
            </a:tbl>
          </a:graphicData>
        </a:graphic>
      </p:graphicFrame>
      <p:sp>
        <p:nvSpPr>
          <p:cNvPr id="6" name="CuadroTexto 5">
            <a:extLst>
              <a:ext uri="{FF2B5EF4-FFF2-40B4-BE49-F238E27FC236}">
                <a16:creationId xmlns:a16="http://schemas.microsoft.com/office/drawing/2014/main" id="{6F054DFC-F216-545F-70CB-F98EFE8C449E}"/>
              </a:ext>
            </a:extLst>
          </p:cNvPr>
          <p:cNvSpPr txBox="1"/>
          <p:nvPr/>
        </p:nvSpPr>
        <p:spPr>
          <a:xfrm>
            <a:off x="1027043" y="5500000"/>
            <a:ext cx="10515600" cy="1015663"/>
          </a:xfrm>
          <a:prstGeom prst="rect">
            <a:avLst/>
          </a:prstGeom>
          <a:noFill/>
        </p:spPr>
        <p:txBody>
          <a:bodyPr wrap="square">
            <a:spAutoFit/>
          </a:bodyPr>
          <a:lstStyle/>
          <a:p>
            <a:pPr algn="just">
              <a:spcBef>
                <a:spcPts val="500"/>
              </a:spcBef>
              <a:spcAft>
                <a:spcPts val="500"/>
              </a:spcAft>
              <a:buNone/>
            </a:pPr>
            <a:r>
              <a:rPr lang="es-MX" sz="2000" dirty="0">
                <a:solidFill>
                  <a:schemeClr val="tx1"/>
                </a:solidFill>
                <a:effectLst/>
                <a:latin typeface="+mn-lt"/>
                <a:ea typeface="Calibri" panose="020F0502020204030204" pitchFamily="34" charset="0"/>
              </a:rPr>
              <a:t>Subproceso de decisión en la entrega: si el cliente paga al recibir la pipa → el pedido pasa a Pagado (efectivo o transferencia); si no paga → queda como Entregado y aparece en Fiados hasta que se liquida.</a:t>
            </a:r>
            <a:endParaRPr lang="es-MX"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15780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871A20-0EC5-14EA-D588-6BB0D5518FA8}"/>
              </a:ext>
            </a:extLst>
          </p:cNvPr>
          <p:cNvSpPr>
            <a:spLocks noGrp="1"/>
          </p:cNvSpPr>
          <p:nvPr>
            <p:ph type="title"/>
          </p:nvPr>
        </p:nvSpPr>
        <p:spPr>
          <a:xfrm>
            <a:off x="1365813" y="365125"/>
            <a:ext cx="10515600" cy="1325563"/>
          </a:xfrm>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Cronograma</a:t>
            </a:r>
          </a:p>
        </p:txBody>
      </p:sp>
      <p:graphicFrame>
        <p:nvGraphicFramePr>
          <p:cNvPr id="7" name="Tabla cronograma">
            <a:extLst>
              <a:ext uri="{FF2B5EF4-FFF2-40B4-BE49-F238E27FC236}">
                <a16:creationId xmlns:a16="http://schemas.microsoft.com/office/drawing/2014/main" id="{30960F52-EED7-CDC5-D84D-3068287B548F}"/>
              </a:ext>
            </a:extLst>
          </p:cNvPr>
          <p:cNvGraphicFramePr>
            <a:graphicFrameLocks noGrp="1"/>
          </p:cNvGraphicFramePr>
          <p:nvPr>
            <p:ph idx="1"/>
            <p:extLst>
              <p:ext uri="{D42A27DB-BD31-4B8C-83A1-F6EECF244321}">
                <p14:modId xmlns:p14="http://schemas.microsoft.com/office/powerpoint/2010/main" val="2387003298"/>
              </p:ext>
            </p:extLst>
          </p:nvPr>
        </p:nvGraphicFramePr>
        <p:xfrm>
          <a:off x="838200" y="1550000"/>
          <a:ext cx="10515600" cy="4114400"/>
        </p:xfrm>
        <a:graphic>
          <a:graphicData uri="http://schemas.openxmlformats.org/drawingml/2006/table">
            <a:tbl>
              <a:tblPr firstRow="1" firstCol="1" bandRow="1">
                <a:tableStyleId>{5C22544A-7EE6-4342-B048-85BDC9FD1C3A}</a:tableStyleId>
              </a:tblPr>
              <a:tblGrid>
                <a:gridCol w="10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5715600">
                  <a:extLst>
                    <a:ext uri="{9D8B030D-6E8A-4147-A177-3AD203B41FA5}">
                      <a16:colId xmlns:a16="http://schemas.microsoft.com/office/drawing/2014/main" val="20002"/>
                    </a:ext>
                  </a:extLst>
                </a:gridCol>
                <a:gridCol w="2300000">
                  <a:extLst>
                    <a:ext uri="{9D8B030D-6E8A-4147-A177-3AD203B41FA5}">
                      <a16:colId xmlns:a16="http://schemas.microsoft.com/office/drawing/2014/main" val="20003"/>
                    </a:ext>
                  </a:extLst>
                </a:gridCol>
              </a:tblGrid>
              <a:tr h="400000">
                <a:tc>
                  <a:txBody>
                    <a:bodyPr/>
                    <a:lstStyle/>
                    <a:p>
                      <a:pPr>
                        <a:buNone/>
                      </a:pPr>
                      <a:r>
                        <a:rPr lang="es-MX" sz="1200" dirty="0">
                          <a:effectLst/>
                        </a:rPr>
                        <a:t>Semana</a:t>
                      </a:r>
                    </a:p>
                  </a:txBody>
                  <a:tcPr marL="57150" marR="57150" anchor="ctr"/>
                </a:tc>
                <a:tc>
                  <a:txBody>
                    <a:bodyPr/>
                    <a:lstStyle/>
                    <a:p>
                      <a:pPr>
                        <a:buNone/>
                      </a:pPr>
                      <a:r>
                        <a:rPr lang="es-MX" sz="1200" dirty="0">
                          <a:effectLst/>
                        </a:rPr>
                        <a:t>Fechas</a:t>
                      </a:r>
                    </a:p>
                  </a:txBody>
                  <a:tcPr marL="57150" marR="57150" anchor="ctr"/>
                </a:tc>
                <a:tc>
                  <a:txBody>
                    <a:bodyPr/>
                    <a:lstStyle/>
                    <a:p>
                      <a:pPr>
                        <a:buNone/>
                      </a:pPr>
                      <a:r>
                        <a:rPr lang="es-MX" sz="1200" dirty="0">
                          <a:effectLst/>
                        </a:rPr>
                        <a:t>Actividad</a:t>
                      </a:r>
                    </a:p>
                  </a:txBody>
                  <a:tcPr marL="57150" marR="57150" anchor="ctr"/>
                </a:tc>
                <a:tc>
                  <a:txBody>
                    <a:bodyPr/>
                    <a:lstStyle/>
                    <a:p>
                      <a:pPr>
                        <a:buNone/>
                      </a:pPr>
                      <a:r>
                        <a:rPr lang="es-MX" sz="1200" dirty="0">
                          <a:effectLst/>
                        </a:rPr>
                        <a:t>Hito</a:t>
                      </a:r>
                    </a:p>
                  </a:txBody>
                  <a:tcPr marL="57150" marR="57150" anchor="ctr"/>
                </a:tc>
                <a:extLst>
                  <a:ext uri="{0D108BD9-81ED-4DB2-BD59-A6C34878D82A}">
                    <a16:rowId xmlns:a16="http://schemas.microsoft.com/office/drawing/2014/main" val="10000"/>
                  </a:ext>
                </a:extLst>
              </a:tr>
              <a:tr h="400000">
                <a:tc>
                  <a:txBody>
                    <a:bodyPr/>
                    <a:lstStyle/>
                    <a:p>
                      <a:pPr>
                        <a:buNone/>
                      </a:pPr>
                      <a:r>
                        <a:rPr lang="es-MX" sz="1200" dirty="0">
                          <a:effectLst/>
                        </a:rPr>
                        <a:t>1</a:t>
                      </a:r>
                    </a:p>
                  </a:txBody>
                  <a:tcPr marL="57150" marR="57150" anchor="ctr"/>
                </a:tc>
                <a:tc>
                  <a:txBody>
                    <a:bodyPr/>
                    <a:lstStyle/>
                    <a:p>
                      <a:pPr>
                        <a:buNone/>
                      </a:pPr>
                      <a:r>
                        <a:rPr lang="es-MX" sz="1200" dirty="0">
                          <a:effectLst/>
                        </a:rPr>
                        <a:t>11/10 – 17/10</a:t>
                      </a:r>
                    </a:p>
                  </a:txBody>
                  <a:tcPr marL="57150" marR="57150" anchor="ctr"/>
                </a:tc>
                <a:tc>
                  <a:txBody>
                    <a:bodyPr/>
                    <a:lstStyle/>
                    <a:p>
                      <a:pPr>
                        <a:buNone/>
                      </a:pPr>
                      <a:r>
                        <a:rPr lang="es-MX" sz="1200" dirty="0">
                          <a:effectLst/>
                        </a:rPr>
                        <a:t>Inicio y planificación: entrevista con los dueños, propuesta, alcance, cronograma, costos y riesgos</a:t>
                      </a:r>
                    </a:p>
                  </a:txBody>
                  <a:tcPr marL="57150" marR="57150" anchor="ctr"/>
                </a:tc>
                <a:tc>
                  <a:txBody>
                    <a:bodyPr/>
                    <a:lstStyle/>
                    <a:p>
                      <a:pPr>
                        <a:buNone/>
                      </a:pPr>
                      <a:r>
                        <a:rPr lang="es-MX" sz="1200" dirty="0">
                          <a:effectLst/>
                        </a:rPr>
                        <a:t>Anteproyecto aprobado (17/10)</a:t>
                      </a:r>
                    </a:p>
                  </a:txBody>
                  <a:tcPr marL="57150" marR="57150" anchor="ctr"/>
                </a:tc>
                <a:extLst>
                  <a:ext uri="{0D108BD9-81ED-4DB2-BD59-A6C34878D82A}">
                    <a16:rowId xmlns:a16="http://schemas.microsoft.com/office/drawing/2014/main" val="10001"/>
                  </a:ext>
                </a:extLst>
              </a:tr>
              <a:tr h="400000">
                <a:tc>
                  <a:txBody>
                    <a:bodyPr/>
                    <a:lstStyle/>
                    <a:p>
                      <a:pPr>
                        <a:buNone/>
                      </a:pPr>
                      <a:r>
                        <a:rPr lang="es-MX" sz="1200" dirty="0">
                          <a:effectLst/>
                        </a:rPr>
                        <a:t>2</a:t>
                      </a:r>
                    </a:p>
                  </a:txBody>
                  <a:tcPr marL="57150" marR="57150" anchor="ctr"/>
                </a:tc>
                <a:tc>
                  <a:txBody>
                    <a:bodyPr/>
                    <a:lstStyle/>
                    <a:p>
                      <a:pPr>
                        <a:buNone/>
                      </a:pPr>
                      <a:r>
                        <a:rPr lang="es-MX" sz="1200" dirty="0">
                          <a:effectLst/>
                        </a:rPr>
                        <a:t>18/10 – 24/10</a:t>
                      </a:r>
                    </a:p>
                  </a:txBody>
                  <a:tcPr marL="57150" marR="57150" anchor="ctr"/>
                </a:tc>
                <a:tc>
                  <a:txBody>
                    <a:bodyPr/>
                    <a:lstStyle/>
                    <a:p>
                      <a:pPr>
                        <a:buNone/>
                      </a:pPr>
                      <a:r>
                        <a:rPr lang="es-MX" sz="1200" dirty="0">
                          <a:effectLst/>
                        </a:rPr>
                        <a:t>Diseño: modelo de datos, casos de uso y wireframes</a:t>
                      </a:r>
                    </a:p>
                  </a:txBody>
                  <a:tcPr marL="57150" marR="57150" anchor="ctr"/>
                </a:tc>
                <a:tc>
                  <a:txBody>
                    <a:bodyPr/>
                    <a:lstStyle/>
                    <a:p>
                      <a:pPr>
                        <a:buNone/>
                      </a:pPr>
                      <a:r>
                        <a:rPr lang="es-MX" sz="1200" kern="1200" dirty="0">
                          <a:solidFill>
                            <a:schemeClr val="dk1"/>
                          </a:solidFill>
                          <a:effectLst/>
                          <a:latin typeface="+mn-lt"/>
                          <a:ea typeface="+mn-ea"/>
                          <a:cs typeface="+mn-cs"/>
                        </a:rPr>
                        <a:t>Diseño elaborado</a:t>
                      </a:r>
                      <a:r>
                        <a:rPr lang="es-MX" sz="1200" kern="1200">
                          <a:solidFill>
                            <a:schemeClr val="dk1"/>
                          </a:solidFill>
                          <a:effectLst/>
                          <a:latin typeface="+mn-lt"/>
                          <a:ea typeface="+mn-ea"/>
                          <a:cs typeface="+mn-cs"/>
                        </a:rPr>
                        <a:t>; aprobación (19/10)</a:t>
                      </a:r>
                      <a:endParaRPr sz="1200" kern="1200" dirty="0">
                        <a:solidFill>
                          <a:schemeClr val="dk1"/>
                        </a:solidFill>
                        <a:effectLst/>
                        <a:latin typeface="+mn-lt"/>
                        <a:ea typeface="+mn-ea"/>
                        <a:cs typeface="+mn-cs"/>
                      </a:endParaRPr>
                    </a:p>
                  </a:txBody>
                  <a:tcPr marL="57150" marR="57150" anchor="ctr"/>
                </a:tc>
                <a:extLst>
                  <a:ext uri="{0D108BD9-81ED-4DB2-BD59-A6C34878D82A}">
                    <a16:rowId xmlns:a16="http://schemas.microsoft.com/office/drawing/2014/main" val="10002"/>
                  </a:ext>
                </a:extLst>
              </a:tr>
              <a:tr h="400000">
                <a:tc>
                  <a:txBody>
                    <a:bodyPr/>
                    <a:lstStyle/>
                    <a:p>
                      <a:pPr>
                        <a:buNone/>
                      </a:pPr>
                      <a:r>
                        <a:rPr lang="es-MX" sz="1200" dirty="0">
                          <a:effectLst/>
                        </a:rPr>
                        <a:t>3</a:t>
                      </a:r>
                    </a:p>
                  </a:txBody>
                  <a:tcPr marL="57150" marR="57150" anchor="ctr"/>
                </a:tc>
                <a:tc>
                  <a:txBody>
                    <a:bodyPr/>
                    <a:lstStyle/>
                    <a:p>
                      <a:pPr>
                        <a:buNone/>
                      </a:pPr>
                      <a:r>
                        <a:rPr lang="es-MX" sz="1200" dirty="0">
                          <a:effectLst/>
                        </a:rPr>
                        <a:t>25/10 – 31/10</a:t>
                      </a:r>
                    </a:p>
                  </a:txBody>
                  <a:tcPr marL="57150" marR="57150" anchor="ctr"/>
                </a:tc>
                <a:tc>
                  <a:txBody>
                    <a:bodyPr/>
                    <a:lstStyle/>
                    <a:p>
                      <a:pPr>
                        <a:buNone/>
                      </a:pPr>
                      <a:r>
                        <a:rPr lang="es-MX" sz="1200" dirty="0">
                          <a:effectLst/>
                        </a:rPr>
                        <a:t>Desarrollo: inicio de sesión y módulo de pedidos con estados y horarios sin empalmes</a:t>
                      </a:r>
                    </a:p>
                  </a:txBody>
                  <a:tcPr marL="57150" marR="57150" anchor="ctr"/>
                </a:tc>
                <a:tc>
                  <a:txBody>
                    <a:bodyPr/>
                    <a:lstStyle/>
                    <a:p>
                      <a:pPr>
                        <a:buNone/>
                      </a:pPr>
                      <a:endParaRPr/>
                    </a:p>
                  </a:txBody>
                  <a:tcPr marL="57150" marR="57150" anchor="ctr"/>
                </a:tc>
                <a:extLst>
                  <a:ext uri="{0D108BD9-81ED-4DB2-BD59-A6C34878D82A}">
                    <a16:rowId xmlns:a16="http://schemas.microsoft.com/office/drawing/2014/main" val="10003"/>
                  </a:ext>
                </a:extLst>
              </a:tr>
              <a:tr h="400000">
                <a:tc>
                  <a:txBody>
                    <a:bodyPr/>
                    <a:lstStyle/>
                    <a:p>
                      <a:pPr>
                        <a:buNone/>
                      </a:pPr>
                      <a:r>
                        <a:rPr lang="es-MX" sz="1200" dirty="0">
                          <a:effectLst/>
                        </a:rPr>
                        <a:t>4</a:t>
                      </a:r>
                    </a:p>
                  </a:txBody>
                  <a:tcPr marL="57150" marR="57150" anchor="ctr"/>
                </a:tc>
                <a:tc>
                  <a:txBody>
                    <a:bodyPr/>
                    <a:lstStyle/>
                    <a:p>
                      <a:pPr>
                        <a:buNone/>
                      </a:pPr>
                      <a:r>
                        <a:rPr lang="es-MX" sz="1200" dirty="0">
                          <a:effectLst/>
                        </a:rPr>
                        <a:t>01/11 – 07/11</a:t>
                      </a:r>
                    </a:p>
                  </a:txBody>
                  <a:tcPr marL="57150" marR="57150" anchor="ctr"/>
                </a:tc>
                <a:tc>
                  <a:txBody>
                    <a:bodyPr/>
                    <a:lstStyle/>
                    <a:p>
                      <a:pPr>
                        <a:buNone/>
                      </a:pPr>
                      <a:r>
                        <a:rPr lang="es-MX" sz="1200" dirty="0">
                          <a:effectLst/>
                        </a:rPr>
                        <a:t>Desarrollo: agenda diaria y semanal; primera versión publicada</a:t>
                      </a:r>
                    </a:p>
                  </a:txBody>
                  <a:tcPr marL="57150" marR="57150" anchor="ctr"/>
                </a:tc>
                <a:tc>
                  <a:txBody>
                    <a:bodyPr/>
                    <a:lstStyle/>
                    <a:p>
                      <a:pPr>
                        <a:buNone/>
                      </a:pPr>
                      <a:r>
                        <a:rPr lang="es-MX" sz="1200" dirty="0">
                          <a:effectLst/>
                        </a:rPr>
                        <a:t>Primera versión (07/11)</a:t>
                      </a:r>
                    </a:p>
                  </a:txBody>
                  <a:tcPr marL="57150" marR="57150" anchor="ctr"/>
                </a:tc>
                <a:extLst>
                  <a:ext uri="{0D108BD9-81ED-4DB2-BD59-A6C34878D82A}">
                    <a16:rowId xmlns:a16="http://schemas.microsoft.com/office/drawing/2014/main" val="10004"/>
                  </a:ext>
                </a:extLst>
              </a:tr>
              <a:tr h="400000">
                <a:tc>
                  <a:txBody>
                    <a:bodyPr/>
                    <a:lstStyle/>
                    <a:p>
                      <a:pPr>
                        <a:buNone/>
                      </a:pPr>
                      <a:r>
                        <a:rPr lang="es-MX" sz="1200" dirty="0">
                          <a:effectLst/>
                        </a:rPr>
                        <a:t>5</a:t>
                      </a:r>
                    </a:p>
                  </a:txBody>
                  <a:tcPr marL="57150" marR="57150" anchor="ctr"/>
                </a:tc>
                <a:tc>
                  <a:txBody>
                    <a:bodyPr/>
                    <a:lstStyle/>
                    <a:p>
                      <a:pPr>
                        <a:buNone/>
                      </a:pPr>
                      <a:r>
                        <a:rPr lang="es-MX" sz="1200" dirty="0">
                          <a:effectLst/>
                        </a:rPr>
                        <a:t>08/11 – 14/11</a:t>
                      </a:r>
                    </a:p>
                  </a:txBody>
                  <a:tcPr marL="57150" marR="57150" anchor="ctr"/>
                </a:tc>
                <a:tc>
                  <a:txBody>
                    <a:bodyPr/>
                    <a:lstStyle/>
                    <a:p>
                      <a:pPr>
                        <a:buNone/>
                      </a:pPr>
                      <a:r>
                        <a:rPr lang="es-MX" sz="1200" dirty="0">
                          <a:effectLst/>
                        </a:rPr>
                        <a:t>Desarrollo: fiados y cobros</a:t>
                      </a:r>
                    </a:p>
                  </a:txBody>
                  <a:tcPr marL="57150" marR="57150" anchor="ctr"/>
                </a:tc>
                <a:tc>
                  <a:txBody>
                    <a:bodyPr/>
                    <a:lstStyle/>
                    <a:p>
                      <a:pPr>
                        <a:buNone/>
                      </a:pPr>
                      <a:endParaRPr/>
                    </a:p>
                  </a:txBody>
                  <a:tcPr marL="57150" marR="57150" anchor="ctr"/>
                </a:tc>
                <a:extLst>
                  <a:ext uri="{0D108BD9-81ED-4DB2-BD59-A6C34878D82A}">
                    <a16:rowId xmlns:a16="http://schemas.microsoft.com/office/drawing/2014/main" val="10005"/>
                  </a:ext>
                </a:extLst>
              </a:tr>
              <a:tr h="400000">
                <a:tc>
                  <a:txBody>
                    <a:bodyPr/>
                    <a:lstStyle/>
                    <a:p>
                      <a:pPr>
                        <a:buNone/>
                      </a:pPr>
                      <a:r>
                        <a:rPr lang="es-MX" sz="1200" dirty="0">
                          <a:effectLst/>
                        </a:rPr>
                        <a:t>6</a:t>
                      </a:r>
                    </a:p>
                  </a:txBody>
                  <a:tcPr marL="57150" marR="57150" anchor="ctr"/>
                </a:tc>
                <a:tc>
                  <a:txBody>
                    <a:bodyPr/>
                    <a:lstStyle/>
                    <a:p>
                      <a:pPr>
                        <a:buNone/>
                      </a:pPr>
                      <a:r>
                        <a:rPr lang="es-MX" sz="1200" dirty="0">
                          <a:effectLst/>
                        </a:rPr>
                        <a:t>15/11 – 21/11</a:t>
                      </a:r>
                    </a:p>
                  </a:txBody>
                  <a:tcPr marL="57150" marR="57150" anchor="ctr"/>
                </a:tc>
                <a:tc>
                  <a:txBody>
                    <a:bodyPr/>
                    <a:lstStyle/>
                    <a:p>
                      <a:pPr>
                        <a:buNone/>
                      </a:pPr>
                      <a:r>
                        <a:rPr lang="es-MX" sz="1200" dirty="0">
                          <a:effectLst/>
                        </a:rPr>
                        <a:t>Desarrollo: egresos y reportes de corte diario y mensual</a:t>
                      </a:r>
                    </a:p>
                  </a:txBody>
                  <a:tcPr marL="57150" marR="57150" anchor="ctr"/>
                </a:tc>
                <a:tc>
                  <a:txBody>
                    <a:bodyPr/>
                    <a:lstStyle/>
                    <a:p>
                      <a:pPr>
                        <a:buNone/>
                      </a:pPr>
                      <a:endParaRPr/>
                    </a:p>
                  </a:txBody>
                  <a:tcPr marL="57150" marR="57150" anchor="ctr"/>
                </a:tc>
                <a:extLst>
                  <a:ext uri="{0D108BD9-81ED-4DB2-BD59-A6C34878D82A}">
                    <a16:rowId xmlns:a16="http://schemas.microsoft.com/office/drawing/2014/main" val="10006"/>
                  </a:ext>
                </a:extLst>
              </a:tr>
              <a:tr h="400000">
                <a:tc>
                  <a:txBody>
                    <a:bodyPr/>
                    <a:lstStyle/>
                    <a:p>
                      <a:pPr>
                        <a:buNone/>
                      </a:pPr>
                      <a:r>
                        <a:rPr lang="es-MX" sz="1200" dirty="0">
                          <a:effectLst/>
                        </a:rPr>
                        <a:t>7</a:t>
                      </a:r>
                    </a:p>
                  </a:txBody>
                  <a:tcPr marL="57150" marR="57150" anchor="ctr"/>
                </a:tc>
                <a:tc>
                  <a:txBody>
                    <a:bodyPr/>
                    <a:lstStyle/>
                    <a:p>
                      <a:pPr>
                        <a:buNone/>
                      </a:pPr>
                      <a:r>
                        <a:rPr lang="es-MX" sz="1200" dirty="0">
                          <a:effectLst/>
                        </a:rPr>
                        <a:t>22/11 – 28/11</a:t>
                      </a:r>
                    </a:p>
                  </a:txBody>
                  <a:tcPr marL="57150" marR="57150" anchor="ctr"/>
                </a:tc>
                <a:tc>
                  <a:txBody>
                    <a:bodyPr/>
                    <a:lstStyle/>
                    <a:p>
                      <a:pPr>
                        <a:buNone/>
                      </a:pPr>
                      <a:r>
                        <a:rPr lang="es-MX" sz="1200" dirty="0">
                          <a:effectLst/>
                        </a:rPr>
                        <a:t>Desarrollo: recordatorios, app instalable (PWA) y keep-alive de Supabase</a:t>
                      </a:r>
                    </a:p>
                  </a:txBody>
                  <a:tcPr marL="57150" marR="57150" anchor="ctr"/>
                </a:tc>
                <a:tc>
                  <a:txBody>
                    <a:bodyPr/>
                    <a:lstStyle/>
                    <a:p>
                      <a:pPr>
                        <a:buNone/>
                      </a:pPr>
                      <a:endParaRPr/>
                    </a:p>
                  </a:txBody>
                  <a:tcPr marL="57150" marR="57150" anchor="ctr"/>
                </a:tc>
                <a:extLst>
                  <a:ext uri="{0D108BD9-81ED-4DB2-BD59-A6C34878D82A}">
                    <a16:rowId xmlns:a16="http://schemas.microsoft.com/office/drawing/2014/main" val="10007"/>
                  </a:ext>
                </a:extLst>
              </a:tr>
              <a:tr h="400000">
                <a:tc>
                  <a:txBody>
                    <a:bodyPr/>
                    <a:lstStyle/>
                    <a:p>
                      <a:pPr>
                        <a:buNone/>
                      </a:pPr>
                      <a:r>
                        <a:rPr lang="es-MX" sz="1200" dirty="0">
                          <a:effectLst/>
                        </a:rPr>
                        <a:t>8</a:t>
                      </a:r>
                    </a:p>
                  </a:txBody>
                  <a:tcPr marL="57150" marR="57150" anchor="ctr"/>
                </a:tc>
                <a:tc>
                  <a:txBody>
                    <a:bodyPr/>
                    <a:lstStyle/>
                    <a:p>
                      <a:pPr>
                        <a:buNone/>
                      </a:pPr>
                      <a:r>
                        <a:rPr lang="es-MX" sz="1200" dirty="0">
                          <a:effectLst/>
                        </a:rPr>
                        <a:t>29/11 – 05/12</a:t>
                      </a:r>
                    </a:p>
                  </a:txBody>
                  <a:tcPr marL="57150" marR="57150" anchor="ctr"/>
                </a:tc>
                <a:tc>
                  <a:txBody>
                    <a:bodyPr/>
                    <a:lstStyle/>
                    <a:p>
                      <a:pPr>
                        <a:buNone/>
                      </a:pPr>
                      <a:r>
                        <a:rPr lang="es-MX" sz="1200" dirty="0">
                          <a:effectLst/>
                        </a:rPr>
                        <a:t>Pruebas con los dueños y ajustes</a:t>
                      </a:r>
                    </a:p>
                  </a:txBody>
                  <a:tcPr marL="57150" marR="57150" anchor="ctr"/>
                </a:tc>
                <a:tc>
                  <a:txBody>
                    <a:bodyPr/>
                    <a:lstStyle/>
                    <a:p>
                      <a:pPr>
                        <a:buNone/>
                      </a:pPr>
                      <a:endParaRPr/>
                    </a:p>
                  </a:txBody>
                  <a:tcPr marL="57150" marR="57150" anchor="ctr"/>
                </a:tc>
                <a:extLst>
                  <a:ext uri="{0D108BD9-81ED-4DB2-BD59-A6C34878D82A}">
                    <a16:rowId xmlns:a16="http://schemas.microsoft.com/office/drawing/2014/main" val="10008"/>
                  </a:ext>
                </a:extLst>
              </a:tr>
              <a:tr h="400000">
                <a:tc>
                  <a:txBody>
                    <a:bodyPr/>
                    <a:lstStyle/>
                    <a:p>
                      <a:pPr>
                        <a:buNone/>
                      </a:pPr>
                      <a:r>
                        <a:rPr lang="es-MX" sz="1200" dirty="0">
                          <a:effectLst/>
                        </a:rPr>
                        <a:t>9</a:t>
                      </a:r>
                    </a:p>
                  </a:txBody>
                  <a:tcPr marL="57150" marR="57150" anchor="ctr"/>
                </a:tc>
                <a:tc>
                  <a:txBody>
                    <a:bodyPr/>
                    <a:lstStyle/>
                    <a:p>
                      <a:pPr>
                        <a:buNone/>
                      </a:pPr>
                      <a:r>
                        <a:rPr lang="es-MX" sz="1200" dirty="0">
                          <a:effectLst/>
                        </a:rPr>
                        <a:t>06/12</a:t>
                      </a:r>
                    </a:p>
                  </a:txBody>
                  <a:tcPr marL="57150" marR="57150" anchor="ctr"/>
                </a:tc>
                <a:tc>
                  <a:txBody>
                    <a:bodyPr/>
                    <a:lstStyle/>
                    <a:p>
                      <a:pPr>
                        <a:buNone/>
                      </a:pPr>
                      <a:r>
                        <a:rPr lang="es-MX" sz="1200" dirty="0">
                          <a:effectLst/>
                        </a:rPr>
                        <a:t>Cierre: capacitación, informe final y documentación</a:t>
                      </a:r>
                    </a:p>
                  </a:txBody>
                  <a:tcPr marL="57150" marR="57150" anchor="ctr"/>
                </a:tc>
                <a:tc>
                  <a:txBody>
                    <a:bodyPr/>
                    <a:lstStyle/>
                    <a:p>
                      <a:pPr>
                        <a:buNone/>
                      </a:pPr>
                      <a:r>
                        <a:rPr lang="es-MX" sz="1200" dirty="0">
                          <a:effectLst/>
                        </a:rPr>
                        <a:t>Entrega final (06/12)</a:t>
                      </a:r>
                    </a:p>
                  </a:txBody>
                  <a:tcPr marL="57150" marR="57150" anchor="ctr"/>
                </a:tc>
                <a:extLst>
                  <a:ext uri="{0D108BD9-81ED-4DB2-BD59-A6C34878D82A}">
                    <a16:rowId xmlns:a16="http://schemas.microsoft.com/office/drawing/2014/main" val="10009"/>
                  </a:ext>
                </a:extLst>
              </a:tr>
            </a:tbl>
          </a:graphicData>
        </a:graphic>
      </p:graphicFrame>
      <p:sp>
        <p:nvSpPr>
          <p:cNvPr id="8" name="Nota cronograma"/>
          <p:cNvSpPr txBox="1"/>
          <p:nvPr/>
        </p:nvSpPr>
        <p:spPr>
          <a:xfrm>
            <a:off x="838200" y="5800000"/>
            <a:ext cx="10515600" cy="700000"/>
          </a:xfrm>
          <a:prstGeom prst="rect">
            <a:avLst/>
          </a:prstGeom>
          <a:noFill/>
        </p:spPr>
        <p:txBody>
          <a:bodyPr wrap="square">
            <a:normAutofit/>
          </a:bodyPr>
          <a:lstStyle/>
          <a:p>
            <a:pPr marL="0" indent="0" algn="just">
              <a:spcBef>
                <a:spcPts val="600"/>
              </a:spcBef>
              <a:buNone/>
            </a:pPr>
            <a:r>
              <a:rPr lang="es-MX" sz="1400" dirty="0"/>
              <a:t>Enfoque híbrido: la planificación es predictiva y el desarrollo avanza por módulos. Mismo cronograma que el diagrama de Gantt en Excel (11/10/2026 – 06/12/2026).</a:t>
            </a:r>
          </a:p>
        </p:txBody>
      </p:sp>
    </p:spTree>
    <p:extLst>
      <p:ext uri="{BB962C8B-B14F-4D97-AF65-F5344CB8AC3E}">
        <p14:creationId xmlns:p14="http://schemas.microsoft.com/office/powerpoint/2010/main" val="3424246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47905F-C5B6-7F91-E712-82B25DAF3C3A}"/>
              </a:ext>
            </a:extLst>
          </p:cNvPr>
          <p:cNvSpPr>
            <a:spLocks noGrp="1"/>
          </p:cNvSpPr>
          <p:nvPr>
            <p:ph type="title"/>
          </p:nvPr>
        </p:nvSpPr>
        <p:spPr/>
        <p:txBody>
          <a:bodyPr vert="horz" lIns="91440" tIns="45720" rIns="91440" bIns="45720" rtlCol="0">
            <a:normAutofit/>
          </a:bodyPr>
          <a:lstStyle/>
          <a:p>
            <a:pPr>
              <a:buFont typeface="Arial" panose="020B0604020202020204" pitchFamily="34" charset="0"/>
            </a:pPr>
            <a:r>
              <a:rPr lang="es-MX" sz="4800" b="1" dirty="0">
                <a:solidFill>
                  <a:schemeClr val="accent1"/>
                </a:solidFill>
              </a:rPr>
              <a:t>Triple restricción</a:t>
            </a:r>
          </a:p>
        </p:txBody>
      </p:sp>
      <p:graphicFrame>
        <p:nvGraphicFramePr>
          <p:cNvPr id="4" name="Marcador de contenido 3">
            <a:extLst>
              <a:ext uri="{FF2B5EF4-FFF2-40B4-BE49-F238E27FC236}">
                <a16:creationId xmlns:a16="http://schemas.microsoft.com/office/drawing/2014/main" id="{30960F52-EED7-CDC5-D84D-3068287B548F}"/>
              </a:ext>
            </a:extLst>
          </p:cNvPr>
          <p:cNvGraphicFramePr>
            <a:graphicFrameLocks noGrp="1"/>
          </p:cNvGraphicFramePr>
          <p:nvPr>
            <p:ph idx="1"/>
          </p:nvPr>
        </p:nvGraphicFramePr>
        <p:xfrm>
          <a:off x="838200" y="1750000"/>
          <a:ext cx="10515600" cy="2863040"/>
        </p:xfrm>
        <a:graphic>
          <a:graphicData uri="http://schemas.openxmlformats.org/drawingml/2006/table">
            <a:tbl>
              <a:tblPr firstRow="1" firstCol="1" bandRow="1">
                <a:tableStyleId>{5C22544A-7EE6-4342-B048-85BDC9FD1C3A}</a:tableStyleId>
              </a:tblPr>
              <a:tblGrid>
                <a:gridCol w="1900000">
                  <a:extLst>
                    <a:ext uri="{9D8B030D-6E8A-4147-A177-3AD203B41FA5}">
                      <a16:colId xmlns:a16="http://schemas.microsoft.com/office/drawing/2014/main" val="20000"/>
                    </a:ext>
                  </a:extLst>
                </a:gridCol>
                <a:gridCol w="4500000">
                  <a:extLst>
                    <a:ext uri="{9D8B030D-6E8A-4147-A177-3AD203B41FA5}">
                      <a16:colId xmlns:a16="http://schemas.microsoft.com/office/drawing/2014/main" val="20001"/>
                    </a:ext>
                  </a:extLst>
                </a:gridCol>
                <a:gridCol w="4115600">
                  <a:extLst>
                    <a:ext uri="{9D8B030D-6E8A-4147-A177-3AD203B41FA5}">
                      <a16:colId xmlns:a16="http://schemas.microsoft.com/office/drawing/2014/main" val="20002"/>
                    </a:ext>
                  </a:extLst>
                </a:gridCol>
              </a:tblGrid>
              <a:tr h="700000">
                <a:tc>
                  <a:txBody>
                    <a:bodyPr/>
                    <a:lstStyle/>
                    <a:p>
                      <a:pPr>
                        <a:buNone/>
                      </a:pPr>
                      <a:r>
                        <a:rPr lang="es-MX" sz="1400" dirty="0">
                          <a:effectLst/>
                        </a:rPr>
                        <a:t>Restricción</a:t>
                      </a:r>
                    </a:p>
                  </a:txBody>
                  <a:tcPr marL="57150" marR="57150" anchor="ctr"/>
                </a:tc>
                <a:tc>
                  <a:txBody>
                    <a:bodyPr/>
                    <a:lstStyle/>
                    <a:p>
                      <a:pPr>
                        <a:buNone/>
                      </a:pPr>
                      <a:r>
                        <a:rPr lang="es-MX" sz="1400" dirty="0">
                          <a:effectLst/>
                        </a:rPr>
                        <a:t>Lo planeado</a:t>
                      </a:r>
                    </a:p>
                  </a:txBody>
                  <a:tcPr marL="57150" marR="57150" anchor="ctr"/>
                </a:tc>
                <a:tc>
                  <a:txBody>
                    <a:bodyPr/>
                    <a:lstStyle/>
                    <a:p>
                      <a:pPr>
                        <a:buNone/>
                      </a:pPr>
                      <a:r>
                        <a:rPr lang="es-MX" sz="1400" dirty="0">
                          <a:effectLst/>
                        </a:rPr>
                        <a:t>Cómo se controla</a:t>
                      </a:r>
                    </a:p>
                  </a:txBody>
                  <a:tcPr marL="57150" marR="57150" anchor="ctr"/>
                </a:tc>
                <a:extLst>
                  <a:ext uri="{0D108BD9-81ED-4DB2-BD59-A6C34878D82A}">
                    <a16:rowId xmlns:a16="http://schemas.microsoft.com/office/drawing/2014/main" val="10000"/>
                  </a:ext>
                </a:extLst>
              </a:tr>
              <a:tr h="700000">
                <a:tc>
                  <a:txBody>
                    <a:bodyPr/>
                    <a:lstStyle/>
                    <a:p>
                      <a:pPr>
                        <a:buNone/>
                      </a:pPr>
                      <a:r>
                        <a:rPr lang="es-MX" sz="1400" dirty="0">
                          <a:effectLst/>
                        </a:rPr>
                        <a:t>Alcance</a:t>
                      </a:r>
                    </a:p>
                  </a:txBody>
                  <a:tcPr marL="57150" marR="57150" anchor="ctr"/>
                </a:tc>
                <a:tc>
                  <a:txBody>
                    <a:bodyPr/>
                    <a:lstStyle/>
                    <a:p>
                      <a:pPr>
                        <a:buNone/>
                      </a:pPr>
                      <a:r>
                        <a:rPr lang="es-MX" sz="1400" dirty="0">
                          <a:effectLst/>
                        </a:rPr>
                        <a:t>Sistema web con inicio de sesión, pedidos con horarios sin empalmes, agenda, fiados, egresos, reportes, recordatorios y app instalable (PWA)</a:t>
                      </a:r>
                    </a:p>
                  </a:txBody>
                  <a:tcPr marL="57150" marR="57150" anchor="ctr"/>
                </a:tc>
                <a:tc>
                  <a:txBody>
                    <a:bodyPr/>
                    <a:lstStyle/>
                    <a:p>
                      <a:pPr>
                        <a:buNone/>
                      </a:pPr>
                      <a:r>
                        <a:rPr lang="es-MX" sz="1400" dirty="0">
                          <a:effectLst/>
                        </a:rPr>
                        <a:t>Lo que no esté en el anteproyecto se registra como cambio y se acuerda con los dueños antes de hacerlo</a:t>
                      </a:r>
                    </a:p>
                  </a:txBody>
                  <a:tcPr marL="57150" marR="57150" anchor="ctr"/>
                </a:tc>
                <a:extLst>
                  <a:ext uri="{0D108BD9-81ED-4DB2-BD59-A6C34878D82A}">
                    <a16:rowId xmlns:a16="http://schemas.microsoft.com/office/drawing/2014/main" val="10001"/>
                  </a:ext>
                </a:extLst>
              </a:tr>
              <a:tr h="700000">
                <a:tc>
                  <a:txBody>
                    <a:bodyPr/>
                    <a:lstStyle/>
                    <a:p>
                      <a:pPr>
                        <a:buNone/>
                      </a:pPr>
                      <a:r>
                        <a:rPr lang="es-MX" sz="1400" dirty="0">
                          <a:effectLst/>
                        </a:rPr>
                        <a:t>Tiempo</a:t>
                      </a:r>
                    </a:p>
                  </a:txBody>
                  <a:tcPr marL="57150" marR="57150" anchor="ctr"/>
                </a:tc>
                <a:tc>
                  <a:txBody>
                    <a:bodyPr/>
                    <a:lstStyle/>
                    <a:p>
                      <a:pPr>
                        <a:buNone/>
                      </a:pPr>
                      <a:r>
                        <a:rPr lang="es-MX" sz="1400" dirty="0">
                          <a:effectLst/>
                        </a:rPr>
                        <a:t>9 semanas, del 11/10/2026 al 06/12/2026, con hitos el 17/10, el 07/11 y el 06/12</a:t>
                      </a:r>
                    </a:p>
                  </a:txBody>
                  <a:tcPr marL="57150" marR="57150" anchor="ctr"/>
                </a:tc>
                <a:tc>
                  <a:txBody>
                    <a:bodyPr/>
                    <a:lstStyle/>
                    <a:p>
                      <a:pPr>
                        <a:buNone/>
                      </a:pPr>
                      <a:r>
                        <a:rPr lang="es-MX" sz="1400" dirty="0">
                          <a:effectLst/>
                        </a:rPr>
                        <a:t>Revisión semanal del avance contra el cronograma de Gantt en Excel</a:t>
                      </a:r>
                    </a:p>
                  </a:txBody>
                  <a:tcPr marL="57150" marR="57150" anchor="ctr"/>
                </a:tc>
                <a:extLst>
                  <a:ext uri="{0D108BD9-81ED-4DB2-BD59-A6C34878D82A}">
                    <a16:rowId xmlns:a16="http://schemas.microsoft.com/office/drawing/2014/main" val="10002"/>
                  </a:ext>
                </a:extLst>
              </a:tr>
              <a:tr h="700000">
                <a:tc>
                  <a:txBody>
                    <a:bodyPr/>
                    <a:lstStyle/>
                    <a:p>
                      <a:pPr>
                        <a:buNone/>
                      </a:pPr>
                      <a:r>
                        <a:rPr lang="es-MX" sz="1400" dirty="0">
                          <a:effectLst/>
                        </a:rPr>
                        <a:t>Costo</a:t>
                      </a:r>
                    </a:p>
                  </a:txBody>
                  <a:tcPr marL="57150" marR="57150" anchor="ctr"/>
                </a:tc>
                <a:tc>
                  <a:txBody>
                    <a:bodyPr/>
                    <a:lstStyle/>
                    <a:p>
                      <a:pPr>
                        <a:buNone/>
                      </a:pPr>
                      <a:r>
                        <a:rPr lang="es-MX" sz="1400" dirty="0">
                          <a:effectLst/>
                        </a:rPr>
                        <a:t>$22,275 MXN: 135 h × $150 más 10 % de contingencia; Supabase, Vercel y GitHub en planes gratuitos</a:t>
                      </a:r>
                    </a:p>
                  </a:txBody>
                  <a:tcPr marL="57150" marR="57150" anchor="ctr"/>
                </a:tc>
                <a:tc>
                  <a:txBody>
                    <a:bodyPr/>
                    <a:lstStyle/>
                    <a:p>
                      <a:pPr>
                        <a:buNone/>
                      </a:pPr>
                      <a:r>
                        <a:rPr lang="es-MX" sz="1400" dirty="0">
                          <a:effectLst/>
                        </a:rPr>
                        <a:t>Registro semanal de horas; Vercel Pro ($20 USD/mes) sería costo de operación, fuera del presupuesto del proyecto</a:t>
                      </a:r>
                    </a:p>
                  </a:txBody>
                  <a:tcPr marL="57150" marR="57150" anchor="ctr"/>
                </a:tc>
                <a:extLst>
                  <a:ext uri="{0D108BD9-81ED-4DB2-BD59-A6C34878D82A}">
                    <a16:rowId xmlns:a16="http://schemas.microsoft.com/office/drawing/2014/main" val="10003"/>
                  </a:ext>
                </a:extLst>
              </a:tr>
            </a:tbl>
          </a:graphicData>
        </a:graphic>
      </p:graphicFrame>
      <p:sp>
        <p:nvSpPr>
          <p:cNvPr id="6" name="CuadroTexto 5">
            <a:extLst>
              <a:ext uri="{FF2B5EF4-FFF2-40B4-BE49-F238E27FC236}">
                <a16:creationId xmlns:a16="http://schemas.microsoft.com/office/drawing/2014/main" id="{6F054DFC-F216-545F-70CB-F98EFE8C449E}"/>
              </a:ext>
            </a:extLst>
          </p:cNvPr>
          <p:cNvSpPr txBox="1"/>
          <p:nvPr/>
        </p:nvSpPr>
        <p:spPr>
          <a:xfrm>
            <a:off x="838200" y="4900000"/>
            <a:ext cx="10515600" cy="1015663"/>
          </a:xfrm>
          <a:prstGeom prst="rect">
            <a:avLst/>
          </a:prstGeom>
          <a:noFill/>
        </p:spPr>
        <p:txBody>
          <a:bodyPr wrap="square">
            <a:spAutoFit/>
          </a:bodyPr>
          <a:lstStyle/>
          <a:p>
            <a:pPr algn="just">
              <a:spcBef>
                <a:spcPts val="500"/>
              </a:spcBef>
              <a:spcAft>
                <a:spcPts val="500"/>
              </a:spcAft>
              <a:buNone/>
            </a:pPr>
            <a:r>
              <a:rPr lang="es-MX" sz="2000" dirty="0">
                <a:solidFill>
                  <a:schemeClr val="tx1"/>
                </a:solidFill>
                <a:effectLst/>
                <a:latin typeface="+mn-lt"/>
                <a:ea typeface="Calibri" panose="020F0502020204030204" pitchFamily="34" charset="0"/>
              </a:rPr>
              <a:t>Las tres restricciones dependen entre sí: agregar un módulo que no está en el alcance alargaría el tiempo y subiría el costo, por eso cualquier cambio se evalúa con los dueños antes de aceptarlo.</a:t>
            </a:r>
            <a:endParaRPr lang="es-MX"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06324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871A20-0EC5-14EA-D588-6BB0D5518FA8}"/>
              </a:ext>
            </a:extLst>
          </p:cNvPr>
          <p:cNvSpPr>
            <a:spLocks noGrp="1"/>
          </p:cNvSpPr>
          <p:nvPr>
            <p:ph type="title"/>
          </p:nvPr>
        </p:nvSpPr>
        <p:spPr>
          <a:xfrm>
            <a:off x="1365813" y="365125"/>
            <a:ext cx="10515600" cy="1325563"/>
          </a:xfrm>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Cronograma </a:t>
            </a:r>
            <a:r>
              <a:rPr lang="es-MX" sz="4800" b="1" dirty="0" err="1">
                <a:solidFill>
                  <a:schemeClr val="accent1"/>
                </a:solidFill>
              </a:rPr>
              <a:t>grantt</a:t>
            </a:r>
            <a:endParaRPr lang="es-MX" sz="4800" b="1" dirty="0">
              <a:solidFill>
                <a:schemeClr val="accent1"/>
              </a:solidFill>
            </a:endParaRPr>
          </a:p>
        </p:txBody>
      </p:sp>
      <p:pic>
        <p:nvPicPr>
          <p:cNvPr id="7" name="Marcador de contenido 6">
            <a:extLst>
              <a:ext uri="{FF2B5EF4-FFF2-40B4-BE49-F238E27FC236}">
                <a16:creationId xmlns:a16="http://schemas.microsoft.com/office/drawing/2014/main" id="{89D8B5C0-99A1-5B3C-BFE5-0C5C6EBE5D2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520037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F0731-87AD-A56E-C0CB-B68EF8C458EF}"/>
              </a:ext>
            </a:extLst>
          </p:cNvPr>
          <p:cNvSpPr>
            <a:spLocks noGrp="1"/>
          </p:cNvSpPr>
          <p:nvPr>
            <p:ph type="title"/>
          </p:nvPr>
        </p:nvSpPr>
        <p:spPr/>
        <p:txBody>
          <a:bodyPr vert="horz" lIns="91440" tIns="45720" rIns="91440" bIns="45720" rtlCol="0" anchor="ctr">
            <a:normAutofit/>
          </a:bodyPr>
          <a:lstStyle/>
          <a:p>
            <a:pPr>
              <a:buFont typeface="Arial" panose="020B0604020202020204" pitchFamily="34" charset="0"/>
            </a:pPr>
            <a:r>
              <a:rPr lang="es-MX" sz="4800" b="1" dirty="0">
                <a:solidFill>
                  <a:schemeClr val="accent1"/>
                </a:solidFill>
              </a:rPr>
              <a:t>Avance actual</a:t>
            </a:r>
          </a:p>
        </p:txBody>
      </p:sp>
      <p:sp>
        <p:nvSpPr>
          <p:cNvPr id="3" name="Marcador de contenido 2">
            <a:extLst>
              <a:ext uri="{FF2B5EF4-FFF2-40B4-BE49-F238E27FC236}">
                <a16:creationId xmlns:a16="http://schemas.microsoft.com/office/drawing/2014/main" id="{0CD760DD-7002-5BCA-3F26-2ABDA3944625}"/>
              </a:ext>
            </a:extLst>
          </p:cNvPr>
          <p:cNvSpPr>
            <a:spLocks noGrp="1"/>
          </p:cNvSpPr>
          <p:nvPr>
            <p:ph idx="1"/>
          </p:nvPr>
        </p:nvSpPr>
        <p:spPr>
          <a:xfrm>
            <a:off x="838200" y="1550000"/>
            <a:ext cx="10515600" cy="4900000"/>
          </a:xfrm>
        </p:spPr>
        <p:txBody>
          <a:bodyPr>
            <a:normAutofit/>
          </a:bodyPr>
          <a:lstStyle/>
          <a:p>
            <a:pPr marL="0" indent="0" algn="just">
              <a:spcBef>
                <a:spcPts val="600"/>
              </a:spcBef>
              <a:buNone/>
            </a:pPr>
            <a:r>
              <a:rPr lang="es-MX" sz="2000" b="1" dirty="0">
                <a:solidFill>
                  <a:schemeClr val="accent1"/>
                </a:solidFill>
              </a:rPr>
              <a:t>Avance general: 20 % </a:t>
            </a:r>
            <a:r>
              <a:rPr lang="es-MX" sz="1800" dirty="0"/>
              <a:t>(corte al 22/10/2026, semana 2 de 9): la planificación está terminada y el diseño está en curso.</a:t>
            </a:r>
          </a:p>
          <a:p>
            <a:pPr algn="just">
              <a:spcBef>
                <a:spcPts val="400"/>
              </a:spcBef>
            </a:pPr>
            <a:r>
              <a:rPr lang="es-MX" sz="1700" b="1" dirty="0"/>
              <a:t>Semana 1 (11/10 – 17/10), terminada: </a:t>
            </a:r>
            <a:r>
              <a:rPr lang="es-MX" sz="1700" dirty="0"/>
              <a:t>anteproyecto aprobado con alcance, objetivos, cronograma, costo estimado de $22,275 MXN y riesgos.</a:t>
            </a:r>
          </a:p>
          <a:p>
            <a:pPr algn="just">
              <a:spcBef>
                <a:spcPts val="400"/>
              </a:spcBef>
            </a:pPr>
            <a:r>
              <a:rPr lang="es-MX" sz="1700" b="1" dirty="0"/>
              <a:t>Semana 2 (18/10 – 24/10), en curso: </a:t>
            </a:r>
            <a:r>
              <a:rPr lang="es-MX" sz="1700" dirty="0"/>
              <a:t>casos de uso, modelo de datos y wireframes de 10 pantallas listos; falta validarlos con los dueños.</a:t>
            </a:r>
          </a:p>
          <a:p>
            <a:pPr algn="just">
              <a:spcBef>
                <a:spcPts val="400"/>
              </a:spcBef>
            </a:pPr>
            <a:r>
              <a:rPr lang="es-MX" sz="1700" b="1" dirty="0"/>
              <a:t>Herramientas utilizadas: </a:t>
            </a:r>
            <a:r>
              <a:rPr lang="es-MX" sz="1700" dirty="0"/>
              <a:t>Excel (Gantt), draw.io, Balsamiq, Next.js, Supabase, Vercel y GitHub.</a:t>
            </a:r>
          </a:p>
          <a:p>
            <a:pPr algn="just">
              <a:spcBef>
                <a:spcPts val="400"/>
              </a:spcBef>
            </a:pPr>
            <a:r>
              <a:rPr lang="es-MX" sz="1700" b="1" dirty="0"/>
              <a:t>Siguiente paso: </a:t>
            </a:r>
            <a:r>
              <a:rPr lang="es-MX" sz="1700" dirty="0"/>
              <a:t>el 25/10 inicia el desarrollo con el inicio de sesión y el módulo de pedidos; la primera versión se publicará el 07/11.</a:t>
            </a:r>
          </a:p>
        </p:txBody>
      </p:sp>
    </p:spTree>
    <p:extLst>
      <p:ext uri="{BB962C8B-B14F-4D97-AF65-F5344CB8AC3E}">
        <p14:creationId xmlns:p14="http://schemas.microsoft.com/office/powerpoint/2010/main" val="1478603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700000"/>
            <a:ext cx="10515600" cy="5600000"/>
          </a:xfrm>
        </p:spPr>
        <p:txBody>
          <a:bodyPr>
            <a:normAutofit/>
          </a:bodyPr>
          <a:lstStyle/>
          <a:p>
            <a:pPr marL="0" indent="0">
              <a:buNone/>
            </a:pPr>
            <a:r>
              <a:rPr lang="es-MX" sz="4800" b="1" dirty="0">
                <a:solidFill>
                  <a:schemeClr val="accent1"/>
                </a:solidFill>
                <a:latin typeface="+mj-lt"/>
              </a:rPr>
              <a:t>Conclusión</a:t>
            </a:r>
          </a:p>
          <a:p>
            <a:pPr marL="0" indent="0" algn="just">
              <a:spcBef>
                <a:spcPts val="600"/>
              </a:spcBef>
              <a:buNone/>
            </a:pPr>
            <a:r>
              <a:rPr lang="es-MX" sz="2000" dirty="0"/>
              <a:t>Aplicar la gestión de proyectos a Agua Limpia La Aurora permitió convertir una necesidad del negocio en un plan concreto: un alcance definido, un cronograma de 9 semanas (del 11 de octubre al 6 de diciembre de 2026) y un costo estimado de $22,275 MXN.</a:t>
            </a:r>
          </a:p>
          <a:p>
            <a:pPr marL="0" indent="0" algn="just">
              <a:spcBef>
                <a:spcPts val="600"/>
              </a:spcBef>
              <a:buNone/>
            </a:pPr>
            <a:r>
              <a:rPr lang="es-MX" sz="2000" dirty="0"/>
              <a:t>Aunque el equipo es pequeño, definir los roles deja claro quién desarrolla, quién valida y quién usa el sistema; los dueños participan desde el diseño para que el resultado responda a su forma de trabajar.</a:t>
            </a:r>
          </a:p>
          <a:p>
            <a:pPr marL="0" indent="0" algn="just">
              <a:spcBef>
                <a:spcPts val="600"/>
              </a:spcBef>
              <a:buNone/>
            </a:pPr>
            <a:r>
              <a:rPr lang="es-MX" sz="2000" dirty="0"/>
              <a:t>Al 22 de octubre el proyecto lleva cerca de 20 % de avance, de acuerdo con lo planeado. Dar seguimiento semanal contra el cronograma de Excel y cuidar la triple restricción permitirá detectar retrasos a tiempo y entregar el sistema en la fecha comprometida.</a:t>
            </a:r>
          </a:p>
        </p:txBody>
      </p:sp>
    </p:spTree>
    <p:extLst>
      <p:ext uri="{BB962C8B-B14F-4D97-AF65-F5344CB8AC3E}">
        <p14:creationId xmlns:p14="http://schemas.microsoft.com/office/powerpoint/2010/main" val="4155922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4124EC-CD38-C073-CDBA-5D847311AD5F}"/>
              </a:ext>
            </a:extLst>
          </p:cNvPr>
          <p:cNvSpPr>
            <a:spLocks noGrp="1"/>
          </p:cNvSpPr>
          <p:nvPr>
            <p:ph type="title"/>
          </p:nvPr>
        </p:nvSpPr>
        <p:spPr/>
        <p:txBody>
          <a:bodyPr/>
          <a:lstStyle/>
          <a:p>
            <a:r>
              <a:rPr lang="es-MX" b="1" dirty="0">
                <a:solidFill>
                  <a:schemeClr val="accent1"/>
                </a:solidFill>
              </a:rPr>
              <a:t>FUENTE DE INFORMACION</a:t>
            </a:r>
          </a:p>
        </p:txBody>
      </p:sp>
      <p:sp>
        <p:nvSpPr>
          <p:cNvPr id="3" name="Marcador de contenido 2">
            <a:extLst>
              <a:ext uri="{FF2B5EF4-FFF2-40B4-BE49-F238E27FC236}">
                <a16:creationId xmlns:a16="http://schemas.microsoft.com/office/drawing/2014/main" id="{820F83E8-77E6-BA3C-CE9D-7E292129AB41}"/>
              </a:ext>
            </a:extLst>
          </p:cNvPr>
          <p:cNvSpPr>
            <a:spLocks noGrp="1"/>
          </p:cNvSpPr>
          <p:nvPr>
            <p:ph idx="1"/>
          </p:nvPr>
        </p:nvSpPr>
        <p:spPr/>
        <p:txBody>
          <a:bodyPr>
            <a:normAutofit fontScale="85000" lnSpcReduction="10000"/>
          </a:bodyPr>
          <a:lstStyle/>
          <a:p>
            <a:r>
              <a:rPr lang="es-MX" dirty="0"/>
              <a:t>Rafaelrav8770. (s. f.). GPS [Repositorio de código fuente]. GitHub. </a:t>
            </a:r>
            <a:r>
              <a:rPr lang="es-MX">
                <a:hlinkClick r:id="rId2"/>
              </a:rPr>
              <a:t>https://github.com/rafaelrav8770/GPS.git</a:t>
            </a:r>
            <a:endParaRPr lang="es-MX"/>
          </a:p>
          <a:p>
            <a:r>
              <a:rPr lang="es-MX"/>
              <a:t>Material </a:t>
            </a:r>
            <a:r>
              <a:rPr lang="es-MX" dirty="0"/>
              <a:t>proporcionado en clase. (2026). </a:t>
            </a:r>
            <a:r>
              <a:rPr lang="es-MX" i="1" dirty="0"/>
              <a:t>Unidad I: Introducción a la gestión de proyectos</a:t>
            </a:r>
            <a:r>
              <a:rPr lang="es-MX" dirty="0"/>
              <a:t>. Gestión de Proyectos de Software, Tecnológico Nacional de México.</a:t>
            </a:r>
          </a:p>
          <a:p>
            <a:r>
              <a:rPr lang="es-MX" dirty="0"/>
              <a:t>Object Management Group. (2017). </a:t>
            </a:r>
            <a:r>
              <a:rPr lang="es-MX" i="1" dirty="0"/>
              <a:t>OMG Unified Modeling Language (OMG UML), versión 2.5.1</a:t>
            </a:r>
            <a:r>
              <a:rPr lang="es-MX" dirty="0"/>
              <a:t>. </a:t>
            </a:r>
            <a:r>
              <a:rPr lang="es-MX" dirty="0">
                <a:hlinkClick r:id="rId3"/>
              </a:rPr>
              <a:t>https://www.omg.org/spec/UML/2.5.1/</a:t>
            </a:r>
          </a:p>
          <a:p>
            <a:r>
              <a:rPr lang="es-MX" dirty="0"/>
              <a:t>Project Management Institute. (2025). </a:t>
            </a:r>
            <a:r>
              <a:rPr lang="es-MX" i="1" dirty="0"/>
              <a:t>A guide to the project management body of knowledge (PMBOK® guide)</a:t>
            </a:r>
            <a:r>
              <a:rPr lang="es-MX" dirty="0"/>
              <a:t> (8.ª ed.). </a:t>
            </a:r>
            <a:r>
              <a:rPr lang="es-MX" dirty="0">
                <a:hlinkClick r:id="rId4"/>
              </a:rPr>
              <a:t>https://www.pmi.org/standards/pmbok</a:t>
            </a:r>
          </a:p>
          <a:p>
            <a:r>
              <a:rPr lang="es-MX" dirty="0"/>
              <a:t>Supabase. (s.f.). </a:t>
            </a:r>
            <a:r>
              <a:rPr lang="es-MX" i="1" dirty="0"/>
              <a:t>Pricing &amp; fees</a:t>
            </a:r>
            <a:r>
              <a:rPr lang="es-MX" dirty="0"/>
              <a:t>. Recuperado el 17 de octubre de 2026, de </a:t>
            </a:r>
            <a:r>
              <a:rPr lang="es-MX" dirty="0">
                <a:hlinkClick r:id="rId5"/>
              </a:rPr>
              <a:t>https://supabase.com/pricing</a:t>
            </a:r>
          </a:p>
          <a:p>
            <a:r>
              <a:rPr lang="es-MX" dirty="0"/>
              <a:t>Vercel. (s.f.). </a:t>
            </a:r>
            <a:r>
              <a:rPr lang="es-MX" i="1" dirty="0"/>
              <a:t>Pricing</a:t>
            </a:r>
            <a:r>
              <a:rPr lang="es-MX" dirty="0"/>
              <a:t>. Recuperado el 17 de octubre de 2026, de </a:t>
            </a:r>
            <a:r>
              <a:rPr lang="es-MX" dirty="0">
                <a:hlinkClick r:id="rId6"/>
              </a:rPr>
              <a:t>https://vercel.com/pricing</a:t>
            </a:r>
          </a:p>
        </p:txBody>
      </p:sp>
    </p:spTree>
    <p:extLst>
      <p:ext uri="{BB962C8B-B14F-4D97-AF65-F5344CB8AC3E}">
        <p14:creationId xmlns:p14="http://schemas.microsoft.com/office/powerpoint/2010/main" val="14363354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 dockstate="right" visibility="0" width="438" row="5">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C2C5D63-18C1-4434-A54D-B97D848577ED}">
  <we:reference id="wa200010725" version="1.0.0.1" store="es-ES" storeType="OMEX"/>
  <we:alternateReferences>
    <we:reference id="WA200010725" version="1.0.0.1" store="" storeType="OMEX"/>
  </we:alternateReferences>
  <we:properties>
    <we:property name="claude.fileId" value="&quot;d7efe0f3-f634-434f-a5c2-c204c4ef56a6&quot;"/>
  </we:properties>
  <we:bindings/>
  <we:snapshot xmlns:r="http://schemas.openxmlformats.org/officeDocument/2006/relationships"/>
</we:webextension>
</file>

<file path=ppt/webextensions/webextension2.xml><?xml version="1.0" encoding="utf-8"?>
<we:webextension xmlns:we="http://schemas.microsoft.com/office/webextensions/webextension/2010/11" id="{439ED310-A2C2-47C5-9E70-042A2B98EE1E}">
  <we:reference id="wa200010001" version="1.0.0.1" store="es-ES" storeType="OMEX"/>
  <we:alternateReferences>
    <we:reference id="WA200010001" version="1.0.0.1" store="" storeType="OMEX"/>
  </we:alternateReferences>
  <we:properties>
    <we:property name="claude.fileId" value="&quot;f03f5bc6-9d1b-4b5b-9524-c2dfa900724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3172</TotalTime>
  <Words>1732</Words>
  <Application>Microsoft Office PowerPoint</Application>
  <PresentationFormat>Panorámica</PresentationFormat>
  <Paragraphs>141</Paragraphs>
  <Slides>17</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17</vt:i4>
      </vt:variant>
    </vt:vector>
  </HeadingPairs>
  <TitlesOfParts>
    <vt:vector size="23" baseType="lpstr">
      <vt:lpstr>Arial</vt:lpstr>
      <vt:lpstr>Calibri</vt:lpstr>
      <vt:lpstr>Calibri Light</vt:lpstr>
      <vt:lpstr>Times New Roman</vt:lpstr>
      <vt:lpstr>Wingdings</vt:lpstr>
      <vt:lpstr>Tema de Office</vt:lpstr>
      <vt:lpstr>Presentación de PowerPoint</vt:lpstr>
      <vt:lpstr>Presentación de PowerPoint</vt:lpstr>
      <vt:lpstr>Presentación de PowerPoint</vt:lpstr>
      <vt:lpstr>justificación</vt:lpstr>
      <vt:lpstr>PROYECTO Rafael Aquino Villanueva Pedidos de Pipas · Agua Limpia La Aurora</vt:lpstr>
      <vt:lpstr>Presentación de PowerPoint</vt:lpstr>
      <vt:lpstr>Diagrama UML de casos de uso</vt:lpstr>
      <vt:lpstr>Modelo de datos</vt:lpstr>
      <vt:lpstr>Balsamiq Wireframes de las pantallas (1/2)</vt:lpstr>
      <vt:lpstr>Balsamiq Wireframes de las pantallas (2/2)</vt:lpstr>
      <vt:lpstr>Personas / áreas involucradas</vt:lpstr>
      <vt:lpstr>Cronograma</vt:lpstr>
      <vt:lpstr>Triple restricción</vt:lpstr>
      <vt:lpstr>Cronograma grantt</vt:lpstr>
      <vt:lpstr>Avance actual</vt:lpstr>
      <vt:lpstr>Presentación de PowerPoint</vt:lpstr>
      <vt:lpstr>FUENTE DE INFORMACION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66</cp:revision>
  <dcterms:created xsi:type="dcterms:W3CDTF">2026-02-14T13:39:49Z</dcterms:created>
  <dcterms:modified xsi:type="dcterms:W3CDTF">2026-11-01T14:00:57Z</dcterms:modified>
</cp:coreProperties>
</file>
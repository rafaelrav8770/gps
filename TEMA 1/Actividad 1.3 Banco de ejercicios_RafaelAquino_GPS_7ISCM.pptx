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3" r:id="rId3"/>
    <p:sldId id="258" r:id="rId4"/>
    <p:sldId id="303" r:id="rId5"/>
    <p:sldId id="308" r:id="rId6"/>
    <p:sldId id="311" r:id="rId7"/>
    <p:sldId id="312" r:id="rId8"/>
    <p:sldId id="313" r:id="rId9"/>
    <p:sldId id="309" r:id="rId10"/>
    <p:sldId id="310" r:id="rId11"/>
    <p:sldId id="260" r:id="rId12"/>
    <p:sldId id="307"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01/11/2026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mi.org/standards/pmbok" TargetMode="External"/><Relationship Id="rId2" Type="http://schemas.openxmlformats.org/officeDocument/2006/relationships/hyperlink" Target="https://github.com/rafaelrav8770/GPS.git?utm_source=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b="1" kern="0" dirty="0">
                <a:latin typeface="Arial" panose="020B0604020202020204" pitchFamily="34" charset="0"/>
                <a:cs typeface="Arial" panose="020B0604020202020204" pitchFamily="34" charset="0"/>
              </a:rPr>
              <a:t>GESTIÓN DE PROYECTOS DE SOFTWARE</a:t>
            </a:r>
          </a:p>
          <a:p>
            <a:pPr algn="ctr">
              <a:lnSpc>
                <a:spcPct val="100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1</a:t>
            </a:r>
            <a:r>
              <a:rPr lang="es-MX" sz="2000" b="1" kern="0" dirty="0">
                <a:effectLst/>
                <a:latin typeface="Arial" panose="020B0604020202020204" pitchFamily="34" charset="0"/>
                <a:ea typeface="Arial" panose="020B0604020202020204" pitchFamily="34" charset="0"/>
                <a:cs typeface="Arial" panose="020B0604020202020204" pitchFamily="34" charset="0"/>
              </a:rPr>
              <a:t>.3 - </a:t>
            </a:r>
            <a:r>
              <a:rPr lang="es-MX" sz="2000" b="1" kern="0" dirty="0">
                <a:latin typeface="Arial" panose="020B0604020202020204" pitchFamily="34" charset="0"/>
                <a:ea typeface="Arial" panose="020B0604020202020204" pitchFamily="34" charset="0"/>
                <a:cs typeface="Arial" panose="020B0604020202020204" pitchFamily="34" charset="0"/>
              </a:rPr>
              <a:t>BANCO DE EJERCICIOS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83305190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SÉPTIMO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effectLst/>
                <a:latin typeface="Arial" panose="020B0604020202020204" pitchFamily="34" charset="0"/>
                <a:ea typeface="Times New Roman" panose="02020603050405020304" pitchFamily="18" charset="0"/>
                <a:cs typeface="Arial" panose="020B0604020202020204" pitchFamily="34" charset="0"/>
              </a:rPr>
              <a:t>24 DE </a:t>
            </a:r>
            <a:r>
              <a:rPr lang="es-MX" sz="2000" b="1" kern="0" dirty="0">
                <a:latin typeface="Arial" panose="020B0604020202020204" pitchFamily="34" charset="0"/>
                <a:ea typeface="Times New Roman" panose="02020603050405020304" pitchFamily="18" charset="0"/>
                <a:cs typeface="Arial" panose="020B0604020202020204" pitchFamily="34" charset="0"/>
              </a:rPr>
              <a:t>OCTUBRE</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lgn="just">
              <a:buNone/>
            </a:pPr>
            <a:r>
              <a:rPr lang="es-MX" dirty="0"/>
              <a:t>El presente banco de ejercicios muestra el seguimiento realizado al proyecto Agua Limpia La Aurora, un sistema web para administrar los pedidos de pipas de agua del negocio. Desde el rol de Project Manager se revisaron las actividades completadas, las pendientes y el avance de cada fase con respecto al cronograma de nueve semanas (del 11 de octubre al 6 de diciembre de 2026) establecido en el anteproyecto.</a:t>
            </a:r>
          </a:p>
          <a:p>
            <a:pPr marL="0" indent="0" algn="just">
              <a:buNone/>
            </a:pPr>
            <a:r>
              <a:rPr lang="es-MX" dirty="0"/>
              <a:t>Mediante un cuadro comparativo, una tabla de análisis, una bitácora y las evidencias de los formatos elaborados, se identifica el estado del proyecto al corte del 22 de octubre de 2026 y las actividades que requieren seguimiento.</a:t>
            </a:r>
          </a:p>
          <a:p>
            <a:pPr marL="0" indent="0">
              <a:buNone/>
            </a:pPr>
            <a:endParaRPr lang="es-MX" dirty="0"/>
          </a:p>
          <a:p>
            <a:pPr marL="0" indent="0" algn="just">
              <a:buNone/>
            </a:pPr>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a:t>Comparar el avance real de cada fase del proyecto Agua Limpia La Aurora con lo planeado en el anteproyecto y en el cronograma de Gantt, mediante el análisis de las actividades realizadas y pendientes, con el propósito de identificar su estado actual y verificar el cumplimiento del cronograma establecido.</a:t>
            </a:r>
          </a:p>
          <a:p>
            <a:pPr marL="0" indent="0" algn="just">
              <a:buNone/>
            </a:pPr>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dirty="0"/>
              <a:t>El seguimiento comparativo permite al Project Manager conocer el estado del proyecto bajo su responsabilidad y detectar oportunamente actividades pendientes, retrasos o cambios solicitados por los dueños del negocio. Contrastar lo planeado en el anteproyecto con el avance real, desde las primeras semanas, facilita la toma de decisiones antes de iniciar el desarrollo y mantiene un control organizado del proyecto.</a:t>
            </a:r>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a:xfrm>
            <a:off x="838200" y="150000"/>
            <a:ext cx="10515600" cy="900000"/>
          </a:xfrm>
        </p:spPr>
        <p:txBody>
          <a:bodyPr>
            <a:normAutofit/>
          </a:bodyPr>
          <a:lstStyle/>
          <a:p>
            <a:r>
              <a:rPr lang="es-MX" sz="3600" b="1" dirty="0">
                <a:solidFill>
                  <a:schemeClr val="accent1"/>
                </a:solidFill>
              </a:rPr>
              <a:t>Anteproyecto</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a:xfrm>
            <a:off x="838200" y="1300000"/>
            <a:ext cx="4650000" cy="5000000"/>
          </a:xfrm>
        </p:spPr>
        <p:txBody>
          <a:bodyPr>
            <a:normAutofit/>
          </a:bodyPr>
          <a:lstStyle/>
          <a:p>
            <a:pPr marL="0" indent="0" algn="just">
              <a:buNone/>
            </a:pPr>
            <a:r>
              <a:rPr lang="es-MX" sz="2400" dirty="0"/>
              <a:t>El seguimiento parte del anteproyecto, aprobado el 17/10/2026 como hito de la semana 1. En él se fijó la línea base contra la que se mide el avance:</a:t>
            </a:r>
          </a:p>
          <a:p>
            <a:pPr marL="285750" indent="-285750">
              <a:buFont typeface="Arial"/>
              <a:buChar char="•"/>
            </a:pPr>
            <a:r>
              <a:rPr lang="es-MX" sz="2000" b="1" dirty="0"/>
              <a:t>Duración: </a:t>
            </a:r>
            <a:r>
              <a:rPr lang="es-MX" sz="2000" dirty="0"/>
              <a:t>9 semanas, del 11/10 al 06/12/2026.</a:t>
            </a:r>
          </a:p>
          <a:p>
            <a:pPr marL="285750" indent="-285750">
              <a:buFont typeface="Arial"/>
              <a:buChar char="•"/>
            </a:pPr>
            <a:r>
              <a:rPr lang="es-MX" sz="2000" b="1" dirty="0"/>
              <a:t>Enfoque: </a:t>
            </a:r>
            <a:r>
              <a:rPr lang="es-MX" sz="2000" dirty="0"/>
              <a:t>híbrido; planificación predictiva y desarrollo por módulos.</a:t>
            </a:r>
          </a:p>
          <a:p>
            <a:pPr marL="285750" indent="-285750">
              <a:buFont typeface="Arial"/>
              <a:buChar char="•"/>
            </a:pPr>
            <a:r>
              <a:rPr lang="es-MX" sz="2000" b="1" dirty="0"/>
              <a:t>Alcance: </a:t>
            </a:r>
            <a:r>
              <a:rPr lang="es-MX" sz="2000" dirty="0"/>
              <a:t>sesión, pedidos, agenda, fiados, egresos, reportes, recordatorios y PWA.</a:t>
            </a:r>
          </a:p>
          <a:p>
            <a:pPr marL="285750" indent="-285750">
              <a:buFont typeface="Arial"/>
              <a:buChar char="•"/>
            </a:pPr>
            <a:r>
              <a:rPr lang="es-MX" sz="2000" b="1" dirty="0"/>
              <a:t>Hitos: </a:t>
            </a:r>
            <a:r>
              <a:rPr lang="es-MX" sz="2000" dirty="0"/>
              <a:t>anteproyecto (17/10), primera versión (07/11) y entrega final (06/12).</a:t>
            </a:r>
          </a:p>
        </p:txBody>
      </p:sp>
      <p:sp>
        <p:nvSpPr>
          <p:cNvPr id="102" name="Pie anteproyecto"/>
          <p:cNvSpPr txBox="1"/>
          <p:nvPr/>
        </p:nvSpPr>
        <p:spPr>
          <a:xfrm>
            <a:off x="5853800" y="5040304"/>
            <a:ext cx="5500000" cy="400000"/>
          </a:xfrm>
          <a:prstGeom prst="rect">
            <a:avLst/>
          </a:prstGeom>
          <a:noFill/>
        </p:spPr>
        <p:txBody>
          <a:bodyPr wrap="square" lIns="0" rIns="0">
            <a:normAutofit/>
          </a:bodyPr>
          <a:lstStyle/>
          <a:p>
            <a:pPr algn="ctr"/>
            <a:r>
              <a:rPr lang="es-MX" sz="1400" dirty="0"/>
              <a:t>Anteproyecto: datos generales del proyecto.</a:t>
            </a:r>
          </a:p>
        </p:txBody>
      </p:sp>
      <p:pic>
        <p:nvPicPr>
          <p:cNvPr id="5" name="Imagen 4">
            <a:extLst>
              <a:ext uri="{FF2B5EF4-FFF2-40B4-BE49-F238E27FC236}">
                <a16:creationId xmlns:a16="http://schemas.microsoft.com/office/drawing/2014/main" id="{A9A713E5-6E44-4AFE-8638-630697C04736}"/>
              </a:ext>
            </a:extLst>
          </p:cNvPr>
          <p:cNvPicPr>
            <a:picLocks noChangeAspect="1"/>
          </p:cNvPicPr>
          <p:nvPr/>
        </p:nvPicPr>
        <p:blipFill>
          <a:blip r:embed="rId2"/>
          <a:stretch>
            <a:fillRect/>
          </a:stretch>
        </p:blipFill>
        <p:spPr>
          <a:xfrm>
            <a:off x="5963920" y="1271592"/>
            <a:ext cx="5903516" cy="3320728"/>
          </a:xfrm>
          <a:prstGeom prst="rect">
            <a:avLst/>
          </a:prstGeom>
        </p:spPr>
      </p:pic>
    </p:spTree>
    <p:extLst>
      <p:ext uri="{BB962C8B-B14F-4D97-AF65-F5344CB8AC3E}">
        <p14:creationId xmlns:p14="http://schemas.microsoft.com/office/powerpoint/2010/main" val="3527236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2D8D02-5163-5C0B-9AEF-6204540FB85E}"/>
              </a:ext>
            </a:extLst>
          </p:cNvPr>
          <p:cNvSpPr>
            <a:spLocks noGrp="1"/>
          </p:cNvSpPr>
          <p:nvPr>
            <p:ph type="title"/>
          </p:nvPr>
        </p:nvSpPr>
        <p:spPr>
          <a:xfrm>
            <a:off x="838200" y="1"/>
            <a:ext cx="10515600" cy="1690688"/>
          </a:xfrm>
        </p:spPr>
        <p:txBody>
          <a:bodyPr vert="horz" lIns="91440" tIns="45720" rIns="91440" bIns="45720" rtlCol="0" anchor="ctr">
            <a:noAutofit/>
          </a:bodyPr>
          <a:lstStyle/>
          <a:p>
            <a:r>
              <a:rPr lang="es-MX" sz="3600" b="1" dirty="0">
                <a:solidFill>
                  <a:schemeClr val="accent1"/>
                </a:solidFill>
              </a:rPr>
              <a:t>Cuadro comparativo de gestión: avance de cada fase con respecto a su cronograma.</a:t>
            </a:r>
          </a:p>
        </p:txBody>
      </p:sp>
      <p:graphicFrame>
        <p:nvGraphicFramePr>
          <p:cNvPr id="4" name="Marcador de contenido 3">
            <a:extLst>
              <a:ext uri="{FF2B5EF4-FFF2-40B4-BE49-F238E27FC236}">
                <a16:creationId xmlns:a16="http://schemas.microsoft.com/office/drawing/2014/main" id="{A77F58E7-0BC9-AC38-65F0-6A4D4FBB1598}"/>
              </a:ext>
            </a:extLst>
          </p:cNvPr>
          <p:cNvGraphicFramePr>
            <a:graphicFrameLocks noGrp="1"/>
          </p:cNvGraphicFramePr>
          <p:nvPr>
            <p:ph idx="1"/>
          </p:nvPr>
        </p:nvGraphicFramePr>
        <p:xfrm>
          <a:off x="1066800" y="1690688"/>
          <a:ext cx="10401300" cy="2453640"/>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685201638"/>
                    </a:ext>
                  </a:extLst>
                </a:gridCol>
                <a:gridCol w="2124075">
                  <a:extLst>
                    <a:ext uri="{9D8B030D-6E8A-4147-A177-3AD203B41FA5}">
                      <a16:colId xmlns:a16="http://schemas.microsoft.com/office/drawing/2014/main" val="1216713441"/>
                    </a:ext>
                  </a:extLst>
                </a:gridCol>
                <a:gridCol w="2334431">
                  <a:extLst>
                    <a:ext uri="{9D8B030D-6E8A-4147-A177-3AD203B41FA5}">
                      <a16:colId xmlns:a16="http://schemas.microsoft.com/office/drawing/2014/main" val="4026051714"/>
                    </a:ext>
                  </a:extLst>
                </a:gridCol>
                <a:gridCol w="2142917">
                  <a:extLst>
                    <a:ext uri="{9D8B030D-6E8A-4147-A177-3AD203B41FA5}">
                      <a16:colId xmlns:a16="http://schemas.microsoft.com/office/drawing/2014/main" val="434915114"/>
                    </a:ext>
                  </a:extLst>
                </a:gridCol>
                <a:gridCol w="741779">
                  <a:extLst>
                    <a:ext uri="{9D8B030D-6E8A-4147-A177-3AD203B41FA5}">
                      <a16:colId xmlns:a16="http://schemas.microsoft.com/office/drawing/2014/main" val="407182494"/>
                    </a:ext>
                  </a:extLst>
                </a:gridCol>
                <a:gridCol w="1648398">
                  <a:extLst>
                    <a:ext uri="{9D8B030D-6E8A-4147-A177-3AD203B41FA5}">
                      <a16:colId xmlns:a16="http://schemas.microsoft.com/office/drawing/2014/main" val="3126397531"/>
                    </a:ext>
                  </a:extLst>
                </a:gridCol>
              </a:tblGrid>
              <a:tr h="274320">
                <a:tc>
                  <a:txBody>
                    <a:bodyPr/>
                    <a:lstStyle/>
                    <a:p>
                      <a:r>
                        <a:rPr lang="es-MX" sz="950">
                          <a:effectLst/>
                        </a:rPr>
                        <a:t>Fase</a:t>
                      </a:r>
                    </a:p>
                  </a:txBody>
                  <a:tcPr marL="57150" marR="57150" marT="57150" marB="57150" anchor="ctr"/>
                </a:tc>
                <a:tc>
                  <a:txBody>
                    <a:bodyPr/>
                    <a:lstStyle/>
                    <a:p>
                      <a:r>
                        <a:rPr lang="es-MX" sz="950" dirty="0">
                          <a:effectLst/>
                        </a:rPr>
                        <a:t>Semanas (cronograma)</a:t>
                      </a:r>
                    </a:p>
                  </a:txBody>
                  <a:tcPr marL="57150" marR="57150" marT="57150" marB="57150" anchor="ctr"/>
                </a:tc>
                <a:tc>
                  <a:txBody>
                    <a:bodyPr/>
                    <a:lstStyle/>
                    <a:p>
                      <a:r>
                        <a:rPr lang="es-MX" sz="950" dirty="0">
                          <a:effectLst/>
                        </a:rPr>
                        <a:t>Actividades completadas</a:t>
                      </a:r>
                    </a:p>
                  </a:txBody>
                  <a:tcPr marL="57150" marR="57150" marT="57150" marB="57150" anchor="ctr"/>
                </a:tc>
                <a:tc>
                  <a:txBody>
                    <a:bodyPr/>
                    <a:lstStyle/>
                    <a:p>
                      <a:r>
                        <a:rPr lang="es-MX" sz="950">
                          <a:effectLst/>
                        </a:rPr>
                        <a:t>Actividades pendientes</a:t>
                      </a:r>
                    </a:p>
                  </a:txBody>
                  <a:tcPr marL="57150" marR="57150" marT="57150" marB="57150" anchor="ctr"/>
                </a:tc>
                <a:tc>
                  <a:txBody>
                    <a:bodyPr/>
                    <a:lstStyle/>
                    <a:p>
                      <a:r>
                        <a:rPr lang="es-MX" sz="950">
                          <a:effectLst/>
                        </a:rPr>
                        <a:t>% Avance</a:t>
                      </a:r>
                    </a:p>
                  </a:txBody>
                  <a:tcPr marL="57150" marR="57150" marT="57150" marB="57150" anchor="ctr"/>
                </a:tc>
                <a:tc>
                  <a:txBody>
                    <a:bodyPr/>
                    <a:lstStyle/>
                    <a:p>
                      <a:r>
                        <a:rPr lang="es-MX" sz="950">
                          <a:effectLst/>
                        </a:rPr>
                        <a:t>Observación</a:t>
                      </a:r>
                    </a:p>
                  </a:txBody>
                  <a:tcPr marL="57150" marR="57150" marT="57150" marB="57150" anchor="ctr"/>
                </a:tc>
                <a:extLst>
                  <a:ext uri="{0D108BD9-81ED-4DB2-BD59-A6C34878D82A}">
                    <a16:rowId xmlns:a16="http://schemas.microsoft.com/office/drawing/2014/main" val="3292508909"/>
                  </a:ext>
                </a:extLst>
              </a:tr>
              <a:tr h="274320">
                <a:tc>
                  <a:txBody>
                    <a:bodyPr/>
                    <a:lstStyle/>
                    <a:p>
                      <a:r>
                        <a:rPr lang="es-MX" sz="950" dirty="0">
                          <a:effectLst/>
                        </a:rPr>
                        <a:t>Inicio y planificación</a:t>
                      </a:r>
                    </a:p>
                  </a:txBody>
                  <a:tcPr marL="57150" marR="57150" marT="57150" marB="57150" anchor="ctr"/>
                </a:tc>
                <a:tc>
                  <a:txBody>
                    <a:bodyPr/>
                    <a:lstStyle/>
                    <a:p>
                      <a:r>
                        <a:rPr lang="es-MX" sz="950" dirty="0">
                          <a:effectLst/>
                        </a:rPr>
                        <a:t>Semana 1 (11/10 – 17/10)</a:t>
                      </a:r>
                    </a:p>
                  </a:txBody>
                  <a:tcPr marL="57150" marR="57150" marT="57150" marB="57150" anchor="ctr"/>
                </a:tc>
                <a:tc>
                  <a:txBody>
                    <a:bodyPr/>
                    <a:lstStyle/>
                    <a:p>
                      <a:r>
                        <a:rPr lang="es-MX" sz="950">
                          <a:effectLst/>
                        </a:rPr>
                        <a:t>Entrevista con los dueños; anteproyecto con alcance, objetivos, riesgos y costo de $22,275 MXN; Gantt en Excel.</a:t>
                      </a:r>
                    </a:p>
                  </a:txBody>
                  <a:tcPr marL="57150" marR="57150" marT="57150" marB="57150" anchor="ctr"/>
                </a:tc>
                <a:tc>
                  <a:txBody>
                    <a:bodyPr/>
                    <a:lstStyle/>
                    <a:p>
                      <a:r>
                        <a:rPr lang="es-MX" sz="950">
                          <a:effectLst/>
                        </a:rPr>
                        <a:t>Ninguna.</a:t>
                      </a:r>
                    </a:p>
                  </a:txBody>
                  <a:tcPr marL="57150" marR="57150" marT="57150" marB="57150" anchor="ctr"/>
                </a:tc>
                <a:tc>
                  <a:txBody>
                    <a:bodyPr/>
                    <a:lstStyle/>
                    <a:p>
                      <a:r>
                        <a:rPr lang="es-MX" sz="950">
                          <a:effectLst/>
                        </a:rPr>
                        <a:t>100%</a:t>
                      </a:r>
                    </a:p>
                  </a:txBody>
                  <a:tcPr marL="57150" marR="57150" marT="57150" marB="57150" anchor="ctr"/>
                </a:tc>
                <a:tc>
                  <a:txBody>
                    <a:bodyPr/>
                    <a:lstStyle/>
                    <a:p>
                      <a:r>
                        <a:rPr lang="es-MX" sz="950" dirty="0">
                          <a:effectLst/>
                        </a:rPr>
                        <a:t>En tiempo. Anteproyecto aprobado el 17/10.</a:t>
                      </a:r>
                    </a:p>
                  </a:txBody>
                  <a:tcPr marL="57150" marR="57150" marT="57150" marB="57150" anchor="ctr"/>
                </a:tc>
                <a:extLst>
                  <a:ext uri="{0D108BD9-81ED-4DB2-BD59-A6C34878D82A}">
                    <a16:rowId xmlns:a16="http://schemas.microsoft.com/office/drawing/2014/main" val="3663544826"/>
                  </a:ext>
                </a:extLst>
              </a:tr>
              <a:tr h="274320">
                <a:tc>
                  <a:txBody>
                    <a:bodyPr/>
                    <a:lstStyle/>
                    <a:p>
                      <a:r>
                        <a:rPr lang="es-MX" sz="950" dirty="0">
                          <a:effectLst/>
                        </a:rPr>
                        <a:t>Diseño</a:t>
                      </a:r>
                    </a:p>
                  </a:txBody>
                  <a:tcPr marL="57150" marR="57150" marT="57150" marB="57150" anchor="ctr"/>
                </a:tc>
                <a:tc>
                  <a:txBody>
                    <a:bodyPr/>
                    <a:lstStyle/>
                    <a:p>
                      <a:r>
                        <a:rPr lang="es-MX" sz="950" dirty="0">
                          <a:effectLst/>
                        </a:rPr>
                        <a:t>Semana 2 (18/10 – 24/10)</a:t>
                      </a:r>
                    </a:p>
                  </a:txBody>
                  <a:tcPr marL="57150" marR="57150" marT="57150" marB="57150" anchor="ctr"/>
                </a:tc>
                <a:tc>
                  <a:txBody>
                    <a:bodyPr/>
                    <a:lstStyle/>
                    <a:p>
                      <a:r>
                        <a:rPr lang="es-MX" sz="950">
                          <a:effectLst/>
                        </a:rPr>
                        <a:t>Casos de uso y modelo de datos en draw.io, 10 wireframes en Balsamiq y tablas de Supabase en español.</a:t>
                      </a:r>
                    </a:p>
                  </a:txBody>
                  <a:tcPr marL="57150" marR="57150" marT="57150" marB="57150" anchor="ctr"/>
                </a:tc>
                <a:tc>
                  <a:txBody>
                    <a:bodyPr/>
                    <a:lstStyle/>
                    <a:p>
                      <a:r>
                        <a:rPr lang="es-MX" sz="950">
                          <a:effectLst/>
                        </a:rPr>
                        <a:t>Ninguna.</a:t>
                      </a:r>
                    </a:p>
                  </a:txBody>
                  <a:tcPr marL="57150" marR="57150" marT="57150" marB="57150" anchor="ctr"/>
                </a:tc>
                <a:tc>
                  <a:txBody>
                    <a:bodyPr/>
                    <a:lstStyle/>
                    <a:p>
                      <a:r>
                        <a:rPr lang="es-MX" sz="950">
                          <a:effectLst/>
                        </a:rPr>
                        <a:t>100%</a:t>
                      </a:r>
                    </a:p>
                  </a:txBody>
                  <a:tcPr marL="57150" marR="57150" marT="57150" marB="57150" anchor="ctr"/>
                </a:tc>
                <a:tc>
                  <a:txBody>
                    <a:bodyPr/>
                    <a:lstStyle/>
                    <a:p>
                      <a:r>
                        <a:rPr lang="es-MX" sz="950" dirty="0">
                          <a:effectLst/>
                        </a:rPr>
                        <a:t>En tiempo. Validado por los dueños el 20/10.</a:t>
                      </a:r>
                    </a:p>
                  </a:txBody>
                  <a:tcPr marL="57150" marR="57150" marT="57150" marB="57150" anchor="ctr"/>
                </a:tc>
                <a:extLst>
                  <a:ext uri="{0D108BD9-81ED-4DB2-BD59-A6C34878D82A}">
                    <a16:rowId xmlns:a16="http://schemas.microsoft.com/office/drawing/2014/main" val="4000548622"/>
                  </a:ext>
                </a:extLst>
              </a:tr>
              <a:tr h="274320">
                <a:tc>
                  <a:txBody>
                    <a:bodyPr/>
                    <a:lstStyle/>
                    <a:p>
                      <a:r>
                        <a:rPr lang="es-MX" sz="950" dirty="0">
                          <a:effectLst/>
                        </a:rPr>
                        <a:t>Desarrollo</a:t>
                      </a:r>
                    </a:p>
                  </a:txBody>
                  <a:tcPr marL="57150" marR="57150" marT="57150" marB="57150" anchor="ctr"/>
                </a:tc>
                <a:tc>
                  <a:txBody>
                    <a:bodyPr/>
                    <a:lstStyle/>
                    <a:p>
                      <a:r>
                        <a:rPr lang="es-MX" sz="950" dirty="0">
                          <a:effectLst/>
                        </a:rPr>
                        <a:t>Semanas 3 a 7 (25/10 – 28/11)</a:t>
                      </a:r>
                    </a:p>
                  </a:txBody>
                  <a:tcPr marL="57150" marR="57150" marT="57150" marB="57150" anchor="ctr"/>
                </a:tc>
                <a:tc>
                  <a:txBody>
                    <a:bodyPr/>
                    <a:lstStyle/>
                    <a:p>
                      <a:r>
                        <a:rPr lang="es-MX" sz="950">
                          <a:effectLst/>
                        </a:rPr>
                        <a:t>Ninguna; inicia el 25/10.</a:t>
                      </a:r>
                    </a:p>
                  </a:txBody>
                  <a:tcPr marL="57150" marR="57150" marT="57150" marB="57150" anchor="ctr"/>
                </a:tc>
                <a:tc>
                  <a:txBody>
                    <a:bodyPr/>
                    <a:lstStyle/>
                    <a:p>
                      <a:r>
                        <a:rPr lang="es-MX" sz="950">
                          <a:effectLst/>
                        </a:rPr>
                        <a:t>Sesión y pedidos, agenda, fiados, egresos y reportes, recordatorios y PWA.</a:t>
                      </a:r>
                    </a:p>
                  </a:txBody>
                  <a:tcPr marL="57150" marR="57150" marT="57150" marB="57150" anchor="ctr"/>
                </a:tc>
                <a:tc>
                  <a:txBody>
                    <a:bodyPr/>
                    <a:lstStyle/>
                    <a:p>
                      <a:r>
                        <a:rPr lang="es-MX" sz="950">
                          <a:effectLst/>
                        </a:rPr>
                        <a:t>0%</a:t>
                      </a:r>
                    </a:p>
                  </a:txBody>
                  <a:tcPr marL="57150" marR="57150" marT="57150" marB="57150" anchor="ctr"/>
                </a:tc>
                <a:tc>
                  <a:txBody>
                    <a:bodyPr/>
                    <a:lstStyle/>
                    <a:p>
                      <a:r>
                        <a:rPr lang="es-MX" sz="950">
                          <a:effectLst/>
                        </a:rPr>
                        <a:t>Por iniciar, según el cronograma.</a:t>
                      </a:r>
                    </a:p>
                  </a:txBody>
                  <a:tcPr marL="57150" marR="57150" marT="57150" marB="57150" anchor="ctr"/>
                </a:tc>
                <a:extLst>
                  <a:ext uri="{0D108BD9-81ED-4DB2-BD59-A6C34878D82A}">
                    <a16:rowId xmlns:a16="http://schemas.microsoft.com/office/drawing/2014/main" val="1328813727"/>
                  </a:ext>
                </a:extLst>
              </a:tr>
              <a:tr h="274320">
                <a:tc>
                  <a:txBody>
                    <a:bodyPr/>
                    <a:lstStyle/>
                    <a:p>
                      <a:r>
                        <a:rPr lang="es-MX" sz="950" dirty="0">
                          <a:effectLst/>
                        </a:rPr>
                        <a:t>Pruebas</a:t>
                      </a:r>
                    </a:p>
                  </a:txBody>
                  <a:tcPr marL="57150" marR="57150" marT="57150" marB="57150" anchor="ctr"/>
                </a:tc>
                <a:tc>
                  <a:txBody>
                    <a:bodyPr/>
                    <a:lstStyle/>
                    <a:p>
                      <a:r>
                        <a:rPr lang="es-MX" sz="950" dirty="0">
                          <a:effectLst/>
                        </a:rPr>
                        <a:t>Semana 8 (29/11 – 05/12)</a:t>
                      </a:r>
                    </a:p>
                  </a:txBody>
                  <a:tcPr marL="57150" marR="57150" marT="57150" marB="57150" anchor="ctr"/>
                </a:tc>
                <a:tc>
                  <a:txBody>
                    <a:bodyPr/>
                    <a:lstStyle/>
                    <a:p>
                      <a:r>
                        <a:rPr lang="es-MX" sz="950">
                          <a:effectLst/>
                        </a:rPr>
                        <a:t>Ninguna.</a:t>
                      </a:r>
                    </a:p>
                  </a:txBody>
                  <a:tcPr marL="57150" marR="57150" marT="57150" marB="57150" anchor="ctr"/>
                </a:tc>
                <a:tc>
                  <a:txBody>
                    <a:bodyPr/>
                    <a:lstStyle/>
                    <a:p>
                      <a:r>
                        <a:rPr lang="es-MX" sz="950">
                          <a:effectLst/>
                        </a:rPr>
                        <a:t>Pruebas con los dueños y ajustes.</a:t>
                      </a:r>
                    </a:p>
                  </a:txBody>
                  <a:tcPr marL="57150" marR="57150" marT="57150" marB="57150" anchor="ctr"/>
                </a:tc>
                <a:tc>
                  <a:txBody>
                    <a:bodyPr/>
                    <a:lstStyle/>
                    <a:p>
                      <a:r>
                        <a:rPr lang="es-MX" sz="950">
                          <a:effectLst/>
                        </a:rPr>
                        <a:t>0%</a:t>
                      </a:r>
                    </a:p>
                  </a:txBody>
                  <a:tcPr marL="57150" marR="57150" marT="57150" marB="57150" anchor="ctr"/>
                </a:tc>
                <a:tc>
                  <a:txBody>
                    <a:bodyPr/>
                    <a:lstStyle/>
                    <a:p>
                      <a:r>
                        <a:rPr lang="es-MX" sz="950">
                          <a:effectLst/>
                        </a:rPr>
                        <a:t>Por iniciar.</a:t>
                      </a:r>
                    </a:p>
                  </a:txBody>
                  <a:tcPr marL="57150" marR="57150" marT="57150" marB="57150" anchor="ctr"/>
                </a:tc>
                <a:extLst>
                  <a:ext uri="{0D108BD9-81ED-4DB2-BD59-A6C34878D82A}">
                    <a16:rowId xmlns:a16="http://schemas.microsoft.com/office/drawing/2014/main" val="1724216957"/>
                  </a:ext>
                </a:extLst>
              </a:tr>
              <a:tr h="274320">
                <a:tc>
                  <a:txBody>
                    <a:bodyPr/>
                    <a:lstStyle/>
                    <a:p>
                      <a:r>
                        <a:rPr lang="es-MX" sz="950" dirty="0">
                          <a:effectLst/>
                        </a:rPr>
                        <a:t>Cierre</a:t>
                      </a:r>
                    </a:p>
                  </a:txBody>
                  <a:tcPr marL="57150" marR="57150" marT="57150" marB="57150" anchor="ctr"/>
                </a:tc>
                <a:tc>
                  <a:txBody>
                    <a:bodyPr/>
                    <a:lstStyle/>
                    <a:p>
                      <a:r>
                        <a:rPr lang="es-MX" sz="950" dirty="0">
                          <a:effectLst/>
                        </a:rPr>
                        <a:t>Semana 9 (06/12)</a:t>
                      </a:r>
                    </a:p>
                  </a:txBody>
                  <a:tcPr marL="57150" marR="57150" marT="57150" marB="57150" anchor="ctr"/>
                </a:tc>
                <a:tc>
                  <a:txBody>
                    <a:bodyPr/>
                    <a:lstStyle/>
                    <a:p>
                      <a:r>
                        <a:rPr lang="es-MX" sz="950">
                          <a:effectLst/>
                        </a:rPr>
                        <a:t>Ninguna.</a:t>
                      </a:r>
                    </a:p>
                  </a:txBody>
                  <a:tcPr marL="57150" marR="57150" marT="57150" marB="57150" anchor="ctr"/>
                </a:tc>
                <a:tc>
                  <a:txBody>
                    <a:bodyPr/>
                    <a:lstStyle/>
                    <a:p>
                      <a:r>
                        <a:rPr lang="es-MX" sz="950">
                          <a:effectLst/>
                        </a:rPr>
                        <a:t>Capacitación, informe final y documentación.</a:t>
                      </a:r>
                    </a:p>
                  </a:txBody>
                  <a:tcPr marL="57150" marR="57150" marT="57150" marB="57150" anchor="ctr"/>
                </a:tc>
                <a:tc>
                  <a:txBody>
                    <a:bodyPr/>
                    <a:lstStyle/>
                    <a:p>
                      <a:r>
                        <a:rPr lang="es-MX" sz="950">
                          <a:effectLst/>
                        </a:rPr>
                        <a:t>0%</a:t>
                      </a:r>
                    </a:p>
                  </a:txBody>
                  <a:tcPr marL="57150" marR="57150" marT="57150" marB="57150" anchor="ctr"/>
                </a:tc>
                <a:tc>
                  <a:txBody>
                    <a:bodyPr/>
                    <a:lstStyle/>
                    <a:p>
                      <a:r>
                        <a:rPr lang="es-MX" sz="950" dirty="0">
                          <a:effectLst/>
                        </a:rPr>
                        <a:t>Por iniciar.</a:t>
                      </a:r>
                    </a:p>
                  </a:txBody>
                  <a:tcPr marL="57150" marR="57150" marT="57150" marB="57150" anchor="ctr"/>
                </a:tc>
                <a:extLst>
                  <a:ext uri="{0D108BD9-81ED-4DB2-BD59-A6C34878D82A}">
                    <a16:rowId xmlns:a16="http://schemas.microsoft.com/office/drawing/2014/main" val="2067895027"/>
                  </a:ext>
                </a:extLst>
              </a:tr>
            </a:tbl>
          </a:graphicData>
        </a:graphic>
      </p:graphicFrame>
      <p:sp>
        <p:nvSpPr>
          <p:cNvPr id="6" name="CuadroTexto 5">
            <a:extLst>
              <a:ext uri="{FF2B5EF4-FFF2-40B4-BE49-F238E27FC236}">
                <a16:creationId xmlns:a16="http://schemas.microsoft.com/office/drawing/2014/main" id="{1451F046-2C7C-63C1-EA15-DDD0F82422C1}"/>
              </a:ext>
            </a:extLst>
          </p:cNvPr>
          <p:cNvSpPr txBox="1"/>
          <p:nvPr/>
        </p:nvSpPr>
        <p:spPr>
          <a:xfrm>
            <a:off x="952500" y="4229035"/>
            <a:ext cx="10515600" cy="2364750"/>
          </a:xfrm>
          <a:prstGeom prst="rect">
            <a:avLst/>
          </a:prstGeom>
          <a:noFill/>
        </p:spPr>
        <p:txBody>
          <a:bodyPr wrap="square">
            <a:spAutoFit/>
          </a:bodyPr>
          <a:lstStyle/>
          <a:p>
            <a:pPr algn="just">
              <a:lnSpc>
                <a:spcPct val="100000"/>
              </a:lnSpc>
              <a:spcAft>
                <a:spcPts val="700"/>
              </a:spcAft>
              <a:buNone/>
            </a:pPr>
            <a:r>
              <a:rPr lang="es-MX" sz="1800" dirty="0">
                <a:solidFill>
                  <a:schemeClr val="tx1"/>
                </a:solidFill>
                <a:effectLst/>
                <a:latin typeface="+mn-lt"/>
                <a:ea typeface="Calibri" panose="020F0502020204030204" pitchFamily="34" charset="0"/>
              </a:rPr>
              <a:t>Como Project Manager, se dio seguimiento al proyecto comparando cada semana el avance real con el cronograma del anteproyecto y el diagrama de Gantt en Excel. El siguiente cuadro compara el avance de cada fase con respecto al cronograma de 9 semanas, evidenciando las actividades completadas, las pendientes y el porcentaje de avance al 22/10/2026.</a:t>
            </a:r>
          </a:p>
          <a:p>
            <a:pPr algn="just">
              <a:spcAft>
                <a:spcPts val="700"/>
              </a:spcAft>
            </a:pPr>
            <a:r>
              <a:rPr lang="es-MX" b="1" i="1" dirty="0"/>
              <a:t>Observación general: </a:t>
            </a:r>
            <a:r>
              <a:rPr lang="es-MX" dirty="0"/>
              <a:t>al corte del 22/10/2026 (semana 2 de 9) el proyecto presenta un avance general del 20 % (27 de 135 horas planeadas): la planificación y el diseño están terminados y validados por los dueños, sin retrasos con respecto al cronograma.</a:t>
            </a:r>
          </a:p>
          <a:p>
            <a:pPr algn="just">
              <a:lnSpc>
                <a:spcPct val="100000"/>
              </a:lnSpc>
              <a:spcAft>
                <a:spcPts val="700"/>
              </a:spcAft>
              <a:buNone/>
            </a:pPr>
            <a:endParaRPr lang="es-MX"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4484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13985-6EEA-BA16-133C-412FDAA345DC}"/>
              </a:ext>
            </a:extLst>
          </p:cNvPr>
          <p:cNvSpPr>
            <a:spLocks noGrp="1"/>
          </p:cNvSpPr>
          <p:nvPr>
            <p:ph type="title"/>
          </p:nvPr>
        </p:nvSpPr>
        <p:spPr/>
        <p:txBody>
          <a:bodyPr vert="horz" lIns="91440" tIns="45720" rIns="91440" bIns="45720" rtlCol="0" anchor="ctr">
            <a:noAutofit/>
          </a:bodyPr>
          <a:lstStyle/>
          <a:p>
            <a:r>
              <a:rPr lang="es-MX" sz="3600" b="1" dirty="0">
                <a:solidFill>
                  <a:schemeClr val="accent1"/>
                </a:solidFill>
              </a:rPr>
              <a:t>Análisis y seguimiento del proyecto</a:t>
            </a:r>
          </a:p>
        </p:txBody>
      </p:sp>
      <p:graphicFrame>
        <p:nvGraphicFramePr>
          <p:cNvPr id="4" name="Marcador de contenido 3">
            <a:extLst>
              <a:ext uri="{FF2B5EF4-FFF2-40B4-BE49-F238E27FC236}">
                <a16:creationId xmlns:a16="http://schemas.microsoft.com/office/drawing/2014/main" id="{981510CD-B0DA-7933-AEFA-1C43F188C723}"/>
              </a:ext>
            </a:extLst>
          </p:cNvPr>
          <p:cNvGraphicFramePr>
            <a:graphicFrameLocks noGrp="1"/>
          </p:cNvGraphicFramePr>
          <p:nvPr>
            <p:ph idx="1"/>
            <p:extLst>
              <p:ext uri="{D42A27DB-BD31-4B8C-83A1-F6EECF244321}">
                <p14:modId xmlns:p14="http://schemas.microsoft.com/office/powerpoint/2010/main" val="3346955689"/>
              </p:ext>
            </p:extLst>
          </p:nvPr>
        </p:nvGraphicFramePr>
        <p:xfrm>
          <a:off x="1041400" y="1491774"/>
          <a:ext cx="10515600" cy="4846320"/>
        </p:xfrm>
        <a:graphic>
          <a:graphicData uri="http://schemas.openxmlformats.org/drawingml/2006/table">
            <a:tbl>
              <a:tblPr firstRow="1" bandRow="1">
                <a:tableStyleId>{5C22544A-7EE6-4342-B048-85BDC9FD1C3A}</a:tableStyleId>
              </a:tblPr>
              <a:tblGrid>
                <a:gridCol w="2291080">
                  <a:extLst>
                    <a:ext uri="{9D8B030D-6E8A-4147-A177-3AD203B41FA5}">
                      <a16:colId xmlns:a16="http://schemas.microsoft.com/office/drawing/2014/main" val="4001988227"/>
                    </a:ext>
                  </a:extLst>
                </a:gridCol>
                <a:gridCol w="2966720">
                  <a:extLst>
                    <a:ext uri="{9D8B030D-6E8A-4147-A177-3AD203B41FA5}">
                      <a16:colId xmlns:a16="http://schemas.microsoft.com/office/drawing/2014/main" val="3579295170"/>
                    </a:ext>
                  </a:extLst>
                </a:gridCol>
                <a:gridCol w="2628900">
                  <a:extLst>
                    <a:ext uri="{9D8B030D-6E8A-4147-A177-3AD203B41FA5}">
                      <a16:colId xmlns:a16="http://schemas.microsoft.com/office/drawing/2014/main" val="907066126"/>
                    </a:ext>
                  </a:extLst>
                </a:gridCol>
                <a:gridCol w="2628900">
                  <a:extLst>
                    <a:ext uri="{9D8B030D-6E8A-4147-A177-3AD203B41FA5}">
                      <a16:colId xmlns:a16="http://schemas.microsoft.com/office/drawing/2014/main" val="295749886"/>
                    </a:ext>
                  </a:extLst>
                </a:gridCol>
              </a:tblGrid>
              <a:tr h="522225">
                <a:tc>
                  <a:txBody>
                    <a:bodyPr/>
                    <a:lstStyle/>
                    <a:p>
                      <a:r>
                        <a:rPr lang="es-MX"/>
                        <a:t>Fase</a:t>
                      </a:r>
                    </a:p>
                  </a:txBody>
                  <a:tcPr anchor="ctr"/>
                </a:tc>
                <a:tc>
                  <a:txBody>
                    <a:bodyPr/>
                    <a:lstStyle/>
                    <a:p>
                      <a:r>
                        <a:rPr lang="es-MX"/>
                        <a:t>Estado actual</a:t>
                      </a:r>
                    </a:p>
                  </a:txBody>
                  <a:tcPr anchor="ctr"/>
                </a:tc>
                <a:tc>
                  <a:txBody>
                    <a:bodyPr/>
                    <a:lstStyle/>
                    <a:p>
                      <a:r>
                        <a:rPr lang="es-MX"/>
                        <a:t>Actividad pendiente</a:t>
                      </a:r>
                    </a:p>
                  </a:txBody>
                  <a:tcPr anchor="ctr"/>
                </a:tc>
                <a:tc>
                  <a:txBody>
                    <a:bodyPr/>
                    <a:lstStyle/>
                    <a:p>
                      <a:r>
                        <a:rPr lang="es-MX"/>
                        <a:t>Acción del Project Manager</a:t>
                      </a:r>
                    </a:p>
                  </a:txBody>
                  <a:tcPr anchor="ctr"/>
                </a:tc>
                <a:extLst>
                  <a:ext uri="{0D108BD9-81ED-4DB2-BD59-A6C34878D82A}">
                    <a16:rowId xmlns:a16="http://schemas.microsoft.com/office/drawing/2014/main" val="1335888819"/>
                  </a:ext>
                </a:extLst>
              </a:tr>
              <a:tr h="969846">
                <a:tc>
                  <a:txBody>
                    <a:bodyPr/>
                    <a:lstStyle/>
                    <a:p>
                      <a:r>
                        <a:rPr lang="es-MX" dirty="0"/>
                        <a:t>Inicio y planificación</a:t>
                      </a:r>
                    </a:p>
                  </a:txBody>
                  <a:tcPr anchor="ctr"/>
                </a:tc>
                <a:tc>
                  <a:txBody>
                    <a:bodyPr/>
                    <a:lstStyle/>
                    <a:p>
                      <a:r>
                        <a:rPr lang="es-MX"/>
                        <a:t>100% de avance. Anteproyecto aprobado.</a:t>
                      </a:r>
                    </a:p>
                  </a:txBody>
                  <a:tcPr anchor="ctr"/>
                </a:tc>
                <a:tc>
                  <a:txBody>
                    <a:bodyPr/>
                    <a:lstStyle/>
                    <a:p>
                      <a:r>
                        <a:rPr lang="es-MX"/>
                        <a:t>Ninguna.</a:t>
                      </a:r>
                    </a:p>
                  </a:txBody>
                  <a:tcPr anchor="ctr"/>
                </a:tc>
                <a:tc>
                  <a:txBody>
                    <a:bodyPr/>
                    <a:lstStyle/>
                    <a:p>
                      <a:r>
                        <a:rPr lang="es-MX"/>
                        <a:t>Registrar todo cambio de alcance y acordarlo con los dueños antes de hacerlo.</a:t>
                      </a:r>
                    </a:p>
                  </a:txBody>
                  <a:tcPr anchor="ctr"/>
                </a:tc>
                <a:extLst>
                  <a:ext uri="{0D108BD9-81ED-4DB2-BD59-A6C34878D82A}">
                    <a16:rowId xmlns:a16="http://schemas.microsoft.com/office/drawing/2014/main" val="3948512107"/>
                  </a:ext>
                </a:extLst>
              </a:tr>
              <a:tr h="746035">
                <a:tc>
                  <a:txBody>
                    <a:bodyPr/>
                    <a:lstStyle/>
                    <a:p>
                      <a:r>
                        <a:rPr lang="es-MX"/>
                        <a:t>Diseño</a:t>
                      </a:r>
                    </a:p>
                  </a:txBody>
                  <a:tcPr anchor="ctr"/>
                </a:tc>
                <a:tc>
                  <a:txBody>
                    <a:bodyPr/>
                    <a:lstStyle/>
                    <a:p>
                      <a:r>
                        <a:rPr lang="es-MX"/>
                        <a:t>100% de avance. Diagramas y wireframes validados por los dueños.</a:t>
                      </a:r>
                    </a:p>
                  </a:txBody>
                  <a:tcPr anchor="ctr"/>
                </a:tc>
                <a:tc>
                  <a:txBody>
                    <a:bodyPr/>
                    <a:lstStyle/>
                    <a:p>
                      <a:r>
                        <a:rPr lang="es-MX"/>
                        <a:t>Ninguna.</a:t>
                      </a:r>
                    </a:p>
                  </a:txBody>
                  <a:tcPr anchor="ctr"/>
                </a:tc>
                <a:tc>
                  <a:txBody>
                    <a:bodyPr/>
                    <a:lstStyle/>
                    <a:p>
                      <a:r>
                        <a:rPr lang="es-MX"/>
                        <a:t>Entregar el diseño aprobado como base del desarrollo.</a:t>
                      </a:r>
                    </a:p>
                  </a:txBody>
                  <a:tcPr anchor="ctr"/>
                </a:tc>
                <a:extLst>
                  <a:ext uri="{0D108BD9-81ED-4DB2-BD59-A6C34878D82A}">
                    <a16:rowId xmlns:a16="http://schemas.microsoft.com/office/drawing/2014/main" val="1761319685"/>
                  </a:ext>
                </a:extLst>
              </a:tr>
              <a:tr h="746035">
                <a:tc>
                  <a:txBody>
                    <a:bodyPr/>
                    <a:lstStyle/>
                    <a:p>
                      <a:r>
                        <a:rPr lang="es-MX"/>
                        <a:t>Desarrollo</a:t>
                      </a:r>
                    </a:p>
                  </a:txBody>
                  <a:tcPr anchor="ctr"/>
                </a:tc>
                <a:tc>
                  <a:txBody>
                    <a:bodyPr/>
                    <a:lstStyle/>
                    <a:p>
                      <a:r>
                        <a:rPr lang="es-MX"/>
                        <a:t>0% de avance. Inicia el 25/10.</a:t>
                      </a:r>
                    </a:p>
                  </a:txBody>
                  <a:tcPr anchor="ctr"/>
                </a:tc>
                <a:tc>
                  <a:txBody>
                    <a:bodyPr/>
                    <a:lstStyle/>
                    <a:p>
                      <a:r>
                        <a:rPr lang="es-MX"/>
                        <a:t>Inicio de sesión y módulo de pedidos (semana 3).</a:t>
                      </a:r>
                    </a:p>
                  </a:txBody>
                  <a:tcPr anchor="ctr"/>
                </a:tc>
                <a:tc>
                  <a:txBody>
                    <a:bodyPr/>
                    <a:lstStyle/>
                    <a:p>
                      <a:r>
                        <a:rPr lang="es-MX"/>
                        <a:t>Usar el modelo de datos aprobado y revisar el avance cada semana.</a:t>
                      </a:r>
                    </a:p>
                  </a:txBody>
                  <a:tcPr anchor="ctr"/>
                </a:tc>
                <a:extLst>
                  <a:ext uri="{0D108BD9-81ED-4DB2-BD59-A6C34878D82A}">
                    <a16:rowId xmlns:a16="http://schemas.microsoft.com/office/drawing/2014/main" val="1076449465"/>
                  </a:ext>
                </a:extLst>
              </a:tr>
              <a:tr h="969846">
                <a:tc>
                  <a:txBody>
                    <a:bodyPr/>
                    <a:lstStyle/>
                    <a:p>
                      <a:r>
                        <a:rPr lang="es-MX"/>
                        <a:t>Pruebas y cierre</a:t>
                      </a:r>
                    </a:p>
                  </a:txBody>
                  <a:tcPr anchor="ctr"/>
                </a:tc>
                <a:tc>
                  <a:txBody>
                    <a:bodyPr/>
                    <a:lstStyle/>
                    <a:p>
                      <a:r>
                        <a:rPr lang="es-MX"/>
                        <a:t>0% de avance. Del 29/11 al 06/12.</a:t>
                      </a:r>
                    </a:p>
                  </a:txBody>
                  <a:tcPr anchor="ctr"/>
                </a:tc>
                <a:tc>
                  <a:txBody>
                    <a:bodyPr/>
                    <a:lstStyle/>
                    <a:p>
                      <a:r>
                        <a:rPr lang="es-MX"/>
                        <a:t>Pruebas, capacitación e informe final.</a:t>
                      </a:r>
                    </a:p>
                  </a:txBody>
                  <a:tcPr anchor="ctr"/>
                </a:tc>
                <a:tc>
                  <a:txBody>
                    <a:bodyPr/>
                    <a:lstStyle/>
                    <a:p>
                      <a:r>
                        <a:rPr lang="es-MX" dirty="0"/>
                        <a:t>Usar la semana de pruebas como contingencia si un módulo se retrasa.</a:t>
                      </a:r>
                    </a:p>
                  </a:txBody>
                  <a:tcPr anchor="ctr"/>
                </a:tc>
                <a:extLst>
                  <a:ext uri="{0D108BD9-81ED-4DB2-BD59-A6C34878D82A}">
                    <a16:rowId xmlns:a16="http://schemas.microsoft.com/office/drawing/2014/main" val="273412036"/>
                  </a:ext>
                </a:extLst>
              </a:tr>
            </a:tbl>
          </a:graphicData>
        </a:graphic>
      </p:graphicFrame>
    </p:spTree>
    <p:extLst>
      <p:ext uri="{BB962C8B-B14F-4D97-AF65-F5344CB8AC3E}">
        <p14:creationId xmlns:p14="http://schemas.microsoft.com/office/powerpoint/2010/main" val="507852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F09F6B-605C-18C1-9557-95EC8CFCB495}"/>
              </a:ext>
            </a:extLst>
          </p:cNvPr>
          <p:cNvSpPr>
            <a:spLocks noGrp="1"/>
          </p:cNvSpPr>
          <p:nvPr>
            <p:ph type="title"/>
          </p:nvPr>
        </p:nvSpPr>
        <p:spPr>
          <a:xfrm>
            <a:off x="838200" y="1"/>
            <a:ext cx="10515600" cy="819150"/>
          </a:xfrm>
        </p:spPr>
        <p:txBody>
          <a:bodyPr vert="horz" lIns="91440" tIns="45720" rIns="91440" bIns="45720" rtlCol="0" anchor="ctr">
            <a:noAutofit/>
          </a:bodyPr>
          <a:lstStyle/>
          <a:p>
            <a:r>
              <a:rPr lang="es-MX" sz="3600" b="1" dirty="0">
                <a:solidFill>
                  <a:schemeClr val="accent1"/>
                </a:solidFill>
              </a:rPr>
              <a:t>Bitácora de seguimiento</a:t>
            </a:r>
          </a:p>
        </p:txBody>
      </p:sp>
      <p:graphicFrame>
        <p:nvGraphicFramePr>
          <p:cNvPr id="4" name="Marcador de contenido 3">
            <a:extLst>
              <a:ext uri="{FF2B5EF4-FFF2-40B4-BE49-F238E27FC236}">
                <a16:creationId xmlns:a16="http://schemas.microsoft.com/office/drawing/2014/main" id="{437805E2-604C-EC50-6413-8B1ED725451B}"/>
              </a:ext>
            </a:extLst>
          </p:cNvPr>
          <p:cNvGraphicFramePr>
            <a:graphicFrameLocks noGrp="1"/>
          </p:cNvGraphicFramePr>
          <p:nvPr>
            <p:ph idx="1"/>
            <p:extLst>
              <p:ext uri="{D42A27DB-BD31-4B8C-83A1-F6EECF244321}">
                <p14:modId xmlns:p14="http://schemas.microsoft.com/office/powerpoint/2010/main" val="2349845127"/>
              </p:ext>
            </p:extLst>
          </p:nvPr>
        </p:nvGraphicFramePr>
        <p:xfrm>
          <a:off x="838200" y="889000"/>
          <a:ext cx="10591800" cy="4899062"/>
        </p:xfrm>
        <a:graphic>
          <a:graphicData uri="http://schemas.openxmlformats.org/drawingml/2006/table">
            <a:tbl>
              <a:tblPr firstRow="1" bandRow="1">
                <a:tableStyleId>{5C22544A-7EE6-4342-B048-85BDC9FD1C3A}</a:tableStyleId>
              </a:tblPr>
              <a:tblGrid>
                <a:gridCol w="2118360">
                  <a:extLst>
                    <a:ext uri="{9D8B030D-6E8A-4147-A177-3AD203B41FA5}">
                      <a16:colId xmlns:a16="http://schemas.microsoft.com/office/drawing/2014/main" val="316854847"/>
                    </a:ext>
                  </a:extLst>
                </a:gridCol>
                <a:gridCol w="2118360">
                  <a:extLst>
                    <a:ext uri="{9D8B030D-6E8A-4147-A177-3AD203B41FA5}">
                      <a16:colId xmlns:a16="http://schemas.microsoft.com/office/drawing/2014/main" val="3984548316"/>
                    </a:ext>
                  </a:extLst>
                </a:gridCol>
                <a:gridCol w="2118360">
                  <a:extLst>
                    <a:ext uri="{9D8B030D-6E8A-4147-A177-3AD203B41FA5}">
                      <a16:colId xmlns:a16="http://schemas.microsoft.com/office/drawing/2014/main" val="2277045324"/>
                    </a:ext>
                  </a:extLst>
                </a:gridCol>
                <a:gridCol w="2118360">
                  <a:extLst>
                    <a:ext uri="{9D8B030D-6E8A-4147-A177-3AD203B41FA5}">
                      <a16:colId xmlns:a16="http://schemas.microsoft.com/office/drawing/2014/main" val="171132670"/>
                    </a:ext>
                  </a:extLst>
                </a:gridCol>
                <a:gridCol w="2118360">
                  <a:extLst>
                    <a:ext uri="{9D8B030D-6E8A-4147-A177-3AD203B41FA5}">
                      <a16:colId xmlns:a16="http://schemas.microsoft.com/office/drawing/2014/main" val="2705892254"/>
                    </a:ext>
                  </a:extLst>
                </a:gridCol>
              </a:tblGrid>
              <a:tr h="213003">
                <a:tc>
                  <a:txBody>
                    <a:bodyPr/>
                    <a:lstStyle/>
                    <a:p>
                      <a:r>
                        <a:rPr lang="es-MX" sz="950"/>
                        <a:t>Fecha</a:t>
                      </a:r>
                    </a:p>
                  </a:txBody>
                  <a:tcPr marL="30429" marR="30429" marT="15214" marB="15214" anchor="ctr"/>
                </a:tc>
                <a:tc>
                  <a:txBody>
                    <a:bodyPr/>
                    <a:lstStyle/>
                    <a:p>
                      <a:r>
                        <a:rPr lang="es-MX" sz="950"/>
                        <a:t>Fase</a:t>
                      </a:r>
                    </a:p>
                  </a:txBody>
                  <a:tcPr marL="30429" marR="30429" marT="15214" marB="15214" anchor="ctr"/>
                </a:tc>
                <a:tc>
                  <a:txBody>
                    <a:bodyPr/>
                    <a:lstStyle/>
                    <a:p>
                      <a:r>
                        <a:rPr lang="es-MX" sz="950"/>
                        <a:t>Actividad realizada</a:t>
                      </a:r>
                    </a:p>
                  </a:txBody>
                  <a:tcPr marL="30429" marR="30429" marT="15214" marB="15214" anchor="ctr"/>
                </a:tc>
                <a:tc>
                  <a:txBody>
                    <a:bodyPr/>
                    <a:lstStyle/>
                    <a:p>
                      <a:r>
                        <a:rPr lang="es-MX" sz="950"/>
                        <a:t>Evidencia o resultado</a:t>
                      </a:r>
                    </a:p>
                  </a:txBody>
                  <a:tcPr marL="30429" marR="30429" marT="15214" marB="15214" anchor="ctr"/>
                </a:tc>
                <a:tc>
                  <a:txBody>
                    <a:bodyPr/>
                    <a:lstStyle/>
                    <a:p>
                      <a:r>
                        <a:rPr lang="es-MX" sz="950"/>
                        <a:t>Estado</a:t>
                      </a:r>
                    </a:p>
                  </a:txBody>
                  <a:tcPr marL="30429" marR="30429" marT="15214" marB="15214" anchor="ctr"/>
                </a:tc>
                <a:extLst>
                  <a:ext uri="{0D108BD9-81ED-4DB2-BD59-A6C34878D82A}">
                    <a16:rowId xmlns:a16="http://schemas.microsoft.com/office/drawing/2014/main" val="2269720226"/>
                  </a:ext>
                </a:extLst>
              </a:tr>
              <a:tr h="669437">
                <a:tc>
                  <a:txBody>
                    <a:bodyPr/>
                    <a:lstStyle/>
                    <a:p>
                      <a:r>
                        <a:rPr lang="es-MX" sz="950" dirty="0"/>
                        <a:t>11/10/2026</a:t>
                      </a:r>
                    </a:p>
                  </a:txBody>
                  <a:tcPr marL="30429" marR="30429" marT="15214" marB="15214" anchor="ctr"/>
                </a:tc>
                <a:tc>
                  <a:txBody>
                    <a:bodyPr/>
                    <a:lstStyle/>
                    <a:p>
                      <a:r>
                        <a:rPr lang="es-MX" sz="950"/>
                        <a:t>Inicio y planificación</a:t>
                      </a:r>
                    </a:p>
                  </a:txBody>
                  <a:tcPr marL="30429" marR="30429" marT="15214" marB="15214" anchor="ctr"/>
                </a:tc>
                <a:tc>
                  <a:txBody>
                    <a:bodyPr/>
                    <a:lstStyle/>
                    <a:p>
                      <a:r>
                        <a:rPr lang="es-MX" sz="950"/>
                        <a:t>Entrevista con los dueños sobre cómo registran pedidos, cobros y gastos.</a:t>
                      </a:r>
                    </a:p>
                  </a:txBody>
                  <a:tcPr marL="30429" marR="30429" marT="15214" marB="15214" anchor="ctr"/>
                </a:tc>
                <a:tc>
                  <a:txBody>
                    <a:bodyPr/>
                    <a:lstStyle/>
                    <a:p>
                      <a:r>
                        <a:rPr lang="es-MX" sz="950"/>
                        <a:t>Problemática y requerimientos identificados.</a:t>
                      </a:r>
                    </a:p>
                  </a:txBody>
                  <a:tcPr marL="30429" marR="30429" marT="15214" marB="15214" anchor="ctr"/>
                </a:tc>
                <a:tc>
                  <a:txBody>
                    <a:bodyPr/>
                    <a:lstStyle/>
                    <a:p>
                      <a:r>
                        <a:rPr lang="es-MX" sz="950"/>
                        <a:t>Completado</a:t>
                      </a:r>
                    </a:p>
                  </a:txBody>
                  <a:tcPr marL="30429" marR="30429" marT="15214" marB="15214" anchor="ctr"/>
                </a:tc>
                <a:extLst>
                  <a:ext uri="{0D108BD9-81ED-4DB2-BD59-A6C34878D82A}">
                    <a16:rowId xmlns:a16="http://schemas.microsoft.com/office/drawing/2014/main" val="3703141994"/>
                  </a:ext>
                </a:extLst>
              </a:tr>
              <a:tr h="669437">
                <a:tc>
                  <a:txBody>
                    <a:bodyPr/>
                    <a:lstStyle/>
                    <a:p>
                      <a:r>
                        <a:rPr lang="es-MX" sz="950"/>
                        <a:t>12-15/10/2026</a:t>
                      </a:r>
                    </a:p>
                  </a:txBody>
                  <a:tcPr marL="30429" marR="30429" marT="15214" marB="15214" anchor="ctr"/>
                </a:tc>
                <a:tc>
                  <a:txBody>
                    <a:bodyPr/>
                    <a:lstStyle/>
                    <a:p>
                      <a:r>
                        <a:rPr lang="es-MX" sz="950"/>
                        <a:t>Inicio y planificación</a:t>
                      </a:r>
                    </a:p>
                  </a:txBody>
                  <a:tcPr marL="30429" marR="30429" marT="15214" marB="15214" anchor="ctr"/>
                </a:tc>
                <a:tc>
                  <a:txBody>
                    <a:bodyPr/>
                    <a:lstStyle/>
                    <a:p>
                      <a:r>
                        <a:rPr lang="es-MX" sz="950"/>
                        <a:t>Se definieron objetivos, alcance, interesados, riesgos y presupuesto de $22,275 MXN.</a:t>
                      </a:r>
                    </a:p>
                  </a:txBody>
                  <a:tcPr marL="30429" marR="30429" marT="15214" marB="15214" anchor="ctr"/>
                </a:tc>
                <a:tc>
                  <a:txBody>
                    <a:bodyPr/>
                    <a:lstStyle/>
                    <a:p>
                      <a:r>
                        <a:rPr lang="es-MX" sz="950"/>
                        <a:t>Secciones del anteproyecto.</a:t>
                      </a:r>
                    </a:p>
                  </a:txBody>
                  <a:tcPr marL="30429" marR="30429" marT="15214" marB="15214" anchor="ctr"/>
                </a:tc>
                <a:tc>
                  <a:txBody>
                    <a:bodyPr/>
                    <a:lstStyle/>
                    <a:p>
                      <a:r>
                        <a:rPr lang="es-MX" sz="950"/>
                        <a:t>Completado</a:t>
                      </a:r>
                    </a:p>
                  </a:txBody>
                  <a:tcPr marL="30429" marR="30429" marT="15214" marB="15214" anchor="ctr"/>
                </a:tc>
                <a:extLst>
                  <a:ext uri="{0D108BD9-81ED-4DB2-BD59-A6C34878D82A}">
                    <a16:rowId xmlns:a16="http://schemas.microsoft.com/office/drawing/2014/main" val="4170207779"/>
                  </a:ext>
                </a:extLst>
              </a:tr>
              <a:tr h="669437">
                <a:tc>
                  <a:txBody>
                    <a:bodyPr/>
                    <a:lstStyle/>
                    <a:p>
                      <a:r>
                        <a:rPr lang="es-MX" sz="950"/>
                        <a:t>16/10/2026</a:t>
                      </a:r>
                    </a:p>
                  </a:txBody>
                  <a:tcPr marL="30429" marR="30429" marT="15214" marB="15214" anchor="ctr"/>
                </a:tc>
                <a:tc>
                  <a:txBody>
                    <a:bodyPr/>
                    <a:lstStyle/>
                    <a:p>
                      <a:r>
                        <a:rPr lang="es-MX" sz="950"/>
                        <a:t>Inicio y planificación</a:t>
                      </a:r>
                    </a:p>
                  </a:txBody>
                  <a:tcPr marL="30429" marR="30429" marT="15214" marB="15214" anchor="ctr"/>
                </a:tc>
                <a:tc>
                  <a:txBody>
                    <a:bodyPr/>
                    <a:lstStyle/>
                    <a:p>
                      <a:r>
                        <a:rPr lang="es-MX" sz="950"/>
                        <a:t>Se elaboró el cronograma de 9 semanas con duraciones, predecesoras y responsable.</a:t>
                      </a:r>
                    </a:p>
                  </a:txBody>
                  <a:tcPr marL="30429" marR="30429" marT="15214" marB="15214" anchor="ctr"/>
                </a:tc>
                <a:tc>
                  <a:txBody>
                    <a:bodyPr/>
                    <a:lstStyle/>
                    <a:p>
                      <a:r>
                        <a:rPr lang="es-MX" sz="950"/>
                        <a:t>Diagrama de Gantt en Excel.</a:t>
                      </a:r>
                    </a:p>
                  </a:txBody>
                  <a:tcPr marL="30429" marR="30429" marT="15214" marB="15214" anchor="ctr"/>
                </a:tc>
                <a:tc>
                  <a:txBody>
                    <a:bodyPr/>
                    <a:lstStyle/>
                    <a:p>
                      <a:r>
                        <a:rPr lang="es-MX" sz="950"/>
                        <a:t>Completado</a:t>
                      </a:r>
                    </a:p>
                  </a:txBody>
                  <a:tcPr marL="30429" marR="30429" marT="15214" marB="15214" anchor="ctr"/>
                </a:tc>
                <a:extLst>
                  <a:ext uri="{0D108BD9-81ED-4DB2-BD59-A6C34878D82A}">
                    <a16:rowId xmlns:a16="http://schemas.microsoft.com/office/drawing/2014/main" val="3113717181"/>
                  </a:ext>
                </a:extLst>
              </a:tr>
              <a:tr h="669437">
                <a:tc>
                  <a:txBody>
                    <a:bodyPr/>
                    <a:lstStyle/>
                    <a:p>
                      <a:r>
                        <a:rPr lang="es-MX" sz="950"/>
                        <a:t>16/10/2026</a:t>
                      </a:r>
                    </a:p>
                  </a:txBody>
                  <a:tcPr marL="30429" marR="30429" marT="15214" marB="15214" anchor="ctr"/>
                </a:tc>
                <a:tc>
                  <a:txBody>
                    <a:bodyPr/>
                    <a:lstStyle/>
                    <a:p>
                      <a:r>
                        <a:rPr lang="es-MX" sz="950"/>
                        <a:t>Diseño</a:t>
                      </a:r>
                    </a:p>
                  </a:txBody>
                  <a:tcPr marL="30429" marR="30429" marT="15214" marB="15214" anchor="ctr"/>
                </a:tc>
                <a:tc>
                  <a:txBody>
                    <a:bodyPr/>
                    <a:lstStyle/>
                    <a:p>
                      <a:r>
                        <a:rPr lang="es-MX" sz="950"/>
                        <a:t>Se definieron en Supabase las tablas en español (perfiles, pedidos y egresos).</a:t>
                      </a:r>
                    </a:p>
                  </a:txBody>
                  <a:tcPr marL="30429" marR="30429" marT="15214" marB="15214" anchor="ctr"/>
                </a:tc>
                <a:tc>
                  <a:txBody>
                    <a:bodyPr/>
                    <a:lstStyle/>
                    <a:p>
                      <a:r>
                        <a:rPr lang="es-MX" sz="950"/>
                        <a:t>Pull request #1 en GitHub.</a:t>
                      </a:r>
                    </a:p>
                  </a:txBody>
                  <a:tcPr marL="30429" marR="30429" marT="15214" marB="15214" anchor="ctr"/>
                </a:tc>
                <a:tc>
                  <a:txBody>
                    <a:bodyPr/>
                    <a:lstStyle/>
                    <a:p>
                      <a:r>
                        <a:rPr lang="es-MX" sz="950"/>
                        <a:t>Completado</a:t>
                      </a:r>
                    </a:p>
                  </a:txBody>
                  <a:tcPr marL="30429" marR="30429" marT="15214" marB="15214" anchor="ctr"/>
                </a:tc>
                <a:extLst>
                  <a:ext uri="{0D108BD9-81ED-4DB2-BD59-A6C34878D82A}">
                    <a16:rowId xmlns:a16="http://schemas.microsoft.com/office/drawing/2014/main" val="3863185530"/>
                  </a:ext>
                </a:extLst>
              </a:tr>
              <a:tr h="669437">
                <a:tc>
                  <a:txBody>
                    <a:bodyPr/>
                    <a:lstStyle/>
                    <a:p>
                      <a:r>
                        <a:rPr lang="es-MX" sz="950"/>
                        <a:t>17/10/2026</a:t>
                      </a:r>
                    </a:p>
                  </a:txBody>
                  <a:tcPr marL="30429" marR="30429" marT="15214" marB="15214" anchor="ctr"/>
                </a:tc>
                <a:tc>
                  <a:txBody>
                    <a:bodyPr/>
                    <a:lstStyle/>
                    <a:p>
                      <a:r>
                        <a:rPr lang="es-MX" sz="950"/>
                        <a:t>Inicio y planificación</a:t>
                      </a:r>
                    </a:p>
                  </a:txBody>
                  <a:tcPr marL="30429" marR="30429" marT="15214" marB="15214" anchor="ctr"/>
                </a:tc>
                <a:tc>
                  <a:txBody>
                    <a:bodyPr/>
                    <a:lstStyle/>
                    <a:p>
                      <a:r>
                        <a:rPr lang="es-MX" sz="950"/>
                        <a:t>Se entregó y aprobó el anteproyecto (hito de la semana 1).</a:t>
                      </a:r>
                    </a:p>
                  </a:txBody>
                  <a:tcPr marL="30429" marR="30429" marT="15214" marB="15214" anchor="ctr"/>
                </a:tc>
                <a:tc>
                  <a:txBody>
                    <a:bodyPr/>
                    <a:lstStyle/>
                    <a:p>
                      <a:r>
                        <a:rPr lang="es-MX" sz="950"/>
                        <a:t>Anteproyecto aprobado.</a:t>
                      </a:r>
                    </a:p>
                  </a:txBody>
                  <a:tcPr marL="30429" marR="30429" marT="15214" marB="15214" anchor="ctr"/>
                </a:tc>
                <a:tc>
                  <a:txBody>
                    <a:bodyPr/>
                    <a:lstStyle/>
                    <a:p>
                      <a:r>
                        <a:rPr lang="es-MX" sz="950"/>
                        <a:t>Completado</a:t>
                      </a:r>
                    </a:p>
                  </a:txBody>
                  <a:tcPr marL="30429" marR="30429" marT="15214" marB="15214" anchor="ctr"/>
                </a:tc>
                <a:extLst>
                  <a:ext uri="{0D108BD9-81ED-4DB2-BD59-A6C34878D82A}">
                    <a16:rowId xmlns:a16="http://schemas.microsoft.com/office/drawing/2014/main" val="2303569262"/>
                  </a:ext>
                </a:extLst>
              </a:tr>
              <a:tr h="669437">
                <a:tc>
                  <a:txBody>
                    <a:bodyPr/>
                    <a:lstStyle/>
                    <a:p>
                      <a:r>
                        <a:rPr lang="es-MX" sz="950"/>
                        <a:t>18/10/2026</a:t>
                      </a:r>
                    </a:p>
                  </a:txBody>
                  <a:tcPr marL="30429" marR="30429" marT="15214" marB="15214" anchor="ctr"/>
                </a:tc>
                <a:tc>
                  <a:txBody>
                    <a:bodyPr/>
                    <a:lstStyle/>
                    <a:p>
                      <a:r>
                        <a:rPr lang="es-MX" sz="950"/>
                        <a:t>Diseño</a:t>
                      </a:r>
                    </a:p>
                  </a:txBody>
                  <a:tcPr marL="30429" marR="30429" marT="15214" marB="15214" anchor="ctr"/>
                </a:tc>
                <a:tc>
                  <a:txBody>
                    <a:bodyPr/>
                    <a:lstStyle/>
                    <a:p>
                      <a:r>
                        <a:rPr lang="es-MX" sz="950"/>
                        <a:t>Se elaboraron el diagrama de casos de uso, el modelo de datos y los 10 wireframes.</a:t>
                      </a:r>
                    </a:p>
                  </a:txBody>
                  <a:tcPr marL="30429" marR="30429" marT="15214" marB="15214" anchor="ctr"/>
                </a:tc>
                <a:tc>
                  <a:txBody>
                    <a:bodyPr/>
                    <a:lstStyle/>
                    <a:p>
                      <a:r>
                        <a:rPr lang="es-MX" sz="950"/>
                        <a:t>Archivos de draw.io y Balsamiq.</a:t>
                      </a:r>
                    </a:p>
                  </a:txBody>
                  <a:tcPr marL="30429" marR="30429" marT="15214" marB="15214" anchor="ctr"/>
                </a:tc>
                <a:tc>
                  <a:txBody>
                    <a:bodyPr/>
                    <a:lstStyle/>
                    <a:p>
                      <a:r>
                        <a:rPr lang="es-MX" sz="950"/>
                        <a:t>Completado</a:t>
                      </a:r>
                    </a:p>
                  </a:txBody>
                  <a:tcPr marL="30429" marR="30429" marT="15214" marB="15214" anchor="ctr"/>
                </a:tc>
                <a:extLst>
                  <a:ext uri="{0D108BD9-81ED-4DB2-BD59-A6C34878D82A}">
                    <a16:rowId xmlns:a16="http://schemas.microsoft.com/office/drawing/2014/main" val="1866348205"/>
                  </a:ext>
                </a:extLst>
              </a:tr>
              <a:tr h="669437">
                <a:tc>
                  <a:txBody>
                    <a:bodyPr/>
                    <a:lstStyle/>
                    <a:p>
                      <a:r>
                        <a:rPr lang="es-MX" sz="950" dirty="0"/>
                        <a:t>20/10/2026</a:t>
                      </a:r>
                    </a:p>
                  </a:txBody>
                  <a:tcPr marL="30429" marR="30429" marT="15214" marB="15214" anchor="ctr"/>
                </a:tc>
                <a:tc>
                  <a:txBody>
                    <a:bodyPr/>
                    <a:lstStyle/>
                    <a:p>
                      <a:r>
                        <a:rPr lang="es-MX" sz="950"/>
                        <a:t>Diseño y seguimiento</a:t>
                      </a:r>
                    </a:p>
                  </a:txBody>
                  <a:tcPr marL="30429" marR="30429" marT="15214" marB="15214" anchor="ctr"/>
                </a:tc>
                <a:tc>
                  <a:txBody>
                    <a:bodyPr/>
                    <a:lstStyle/>
                    <a:p>
                      <a:r>
                        <a:rPr lang="es-MX" sz="950"/>
                        <a:t>Los dueños validaron los diagramas y wireframes; se hizo el corte de avance de la Unidad 1.</a:t>
                      </a:r>
                    </a:p>
                  </a:txBody>
                  <a:tcPr marL="30429" marR="30429" marT="15214" marB="15214" anchor="ctr"/>
                </a:tc>
                <a:tc>
                  <a:txBody>
                    <a:bodyPr/>
                    <a:lstStyle/>
                    <a:p>
                      <a:r>
                        <a:rPr lang="es-MX" sz="950"/>
                        <a:t>Diseño aprobado; actividades 1.2 y 1.3.</a:t>
                      </a:r>
                    </a:p>
                  </a:txBody>
                  <a:tcPr marL="30429" marR="30429" marT="15214" marB="15214" anchor="ctr"/>
                </a:tc>
                <a:tc>
                  <a:txBody>
                    <a:bodyPr/>
                    <a:lstStyle/>
                    <a:p>
                      <a:r>
                        <a:rPr lang="es-MX" sz="950" dirty="0"/>
                        <a:t>Completado</a:t>
                      </a:r>
                    </a:p>
                  </a:txBody>
                  <a:tcPr marL="30429" marR="30429" marT="15214" marB="15214" anchor="ctr"/>
                </a:tc>
                <a:extLst>
                  <a:ext uri="{0D108BD9-81ED-4DB2-BD59-A6C34878D82A}">
                    <a16:rowId xmlns:a16="http://schemas.microsoft.com/office/drawing/2014/main" val="529903991"/>
                  </a:ext>
                </a:extLst>
              </a:tr>
            </a:tbl>
          </a:graphicData>
        </a:graphic>
      </p:graphicFrame>
      <p:sp>
        <p:nvSpPr>
          <p:cNvPr id="6" name="CuadroTexto 5">
            <a:extLst>
              <a:ext uri="{FF2B5EF4-FFF2-40B4-BE49-F238E27FC236}">
                <a16:creationId xmlns:a16="http://schemas.microsoft.com/office/drawing/2014/main" id="{A7615F87-9D81-14CD-4CCA-6B2A011D13E9}"/>
              </a:ext>
            </a:extLst>
          </p:cNvPr>
          <p:cNvSpPr txBox="1"/>
          <p:nvPr/>
        </p:nvSpPr>
        <p:spPr>
          <a:xfrm>
            <a:off x="838199" y="5950000"/>
            <a:ext cx="10658475" cy="646331"/>
          </a:xfrm>
          <a:prstGeom prst="rect">
            <a:avLst/>
          </a:prstGeom>
          <a:noFill/>
        </p:spPr>
        <p:txBody>
          <a:bodyPr wrap="square">
            <a:spAutoFit/>
          </a:bodyPr>
          <a:lstStyle/>
          <a:p>
            <a:r>
              <a:rPr lang="es-MX" dirty="0"/>
              <a:t>La bitácora permite documentar cronológicamente las actividades de las semanas 1 y 2: el levantamiento, la elaboración del anteproyecto, la planificación y el diseño del sistema.</a:t>
            </a:r>
          </a:p>
        </p:txBody>
      </p:sp>
    </p:spTree>
    <p:extLst>
      <p:ext uri="{BB962C8B-B14F-4D97-AF65-F5344CB8AC3E}">
        <p14:creationId xmlns:p14="http://schemas.microsoft.com/office/powerpoint/2010/main" val="952210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a:xfrm>
            <a:off x="838200" y="150000"/>
            <a:ext cx="10515600" cy="900000"/>
          </a:xfrm>
        </p:spPr>
        <p:txBody>
          <a:bodyPr>
            <a:normAutofit/>
          </a:bodyPr>
          <a:lstStyle/>
          <a:p>
            <a:r>
              <a:rPr lang="es-MX" sz="3600" b="1" dirty="0">
                <a:solidFill>
                  <a:schemeClr val="accent1"/>
                </a:solidFill>
              </a:rPr>
              <a:t>Evidencias: cronograma y diseño</a:t>
            </a:r>
          </a:p>
        </p:txBody>
      </p:sp>
      <p:sp>
        <p:nvSpPr>
          <p:cNvPr id="104" name="Pie Gantt"/>
          <p:cNvSpPr txBox="1"/>
          <p:nvPr/>
        </p:nvSpPr>
        <p:spPr>
          <a:xfrm>
            <a:off x="1356360" y="3316184"/>
            <a:ext cx="2077720" cy="486319"/>
          </a:xfrm>
          <a:prstGeom prst="rect">
            <a:avLst/>
          </a:prstGeom>
          <a:noFill/>
        </p:spPr>
        <p:txBody>
          <a:bodyPr wrap="square" lIns="0" rIns="0">
            <a:normAutofit/>
          </a:bodyPr>
          <a:lstStyle/>
          <a:p>
            <a:pPr algn="l"/>
            <a:r>
              <a:rPr lang="es-MX" sz="1400" dirty="0"/>
              <a:t> Cronograma de Gantt</a:t>
            </a:r>
          </a:p>
        </p:txBody>
      </p:sp>
      <p:sp>
        <p:nvSpPr>
          <p:cNvPr id="107" name="Pie diagramas"/>
          <p:cNvSpPr txBox="1"/>
          <p:nvPr/>
        </p:nvSpPr>
        <p:spPr>
          <a:xfrm>
            <a:off x="5166360" y="4205914"/>
            <a:ext cx="2077720" cy="486320"/>
          </a:xfrm>
          <a:prstGeom prst="rect">
            <a:avLst/>
          </a:prstGeom>
          <a:noFill/>
        </p:spPr>
        <p:txBody>
          <a:bodyPr wrap="square" lIns="0" rIns="0">
            <a:normAutofit/>
          </a:bodyPr>
          <a:lstStyle>
            <a:defPPr>
              <a:defRPr lang="es-MX"/>
            </a:defPPr>
            <a:lvl1pPr>
              <a:defRPr sz="1400"/>
            </a:lvl1pPr>
          </a:lstStyle>
          <a:p>
            <a:r>
              <a:rPr lang="es-MX" dirty="0"/>
              <a:t> Diagrama de casos de uso</a:t>
            </a:r>
          </a:p>
        </p:txBody>
      </p:sp>
      <p:pic>
        <p:nvPicPr>
          <p:cNvPr id="3" name="Imagen 2">
            <a:extLst>
              <a:ext uri="{FF2B5EF4-FFF2-40B4-BE49-F238E27FC236}">
                <a16:creationId xmlns:a16="http://schemas.microsoft.com/office/drawing/2014/main" id="{5ED5C27E-2CFC-50AC-9952-88D77374E151}"/>
              </a:ext>
            </a:extLst>
          </p:cNvPr>
          <p:cNvPicPr>
            <a:picLocks noChangeAspect="1"/>
          </p:cNvPicPr>
          <p:nvPr/>
        </p:nvPicPr>
        <p:blipFill>
          <a:blip r:embed="rId2"/>
          <a:stretch>
            <a:fillRect/>
          </a:stretch>
        </p:blipFill>
        <p:spPr>
          <a:xfrm>
            <a:off x="838200" y="1255064"/>
            <a:ext cx="3398520" cy="1911908"/>
          </a:xfrm>
          <a:prstGeom prst="rect">
            <a:avLst/>
          </a:prstGeom>
        </p:spPr>
      </p:pic>
      <p:pic>
        <p:nvPicPr>
          <p:cNvPr id="4" name="Picture 2029049174">
            <a:extLst>
              <a:ext uri="{FF2B5EF4-FFF2-40B4-BE49-F238E27FC236}">
                <a16:creationId xmlns:a16="http://schemas.microsoft.com/office/drawing/2014/main" id="{10AED122-2AC8-8938-4B73-13323D82EB3A}"/>
              </a:ext>
            </a:extLst>
          </p:cNvPr>
          <p:cNvPicPr>
            <a:picLocks noChangeAspect="1"/>
          </p:cNvPicPr>
          <p:nvPr/>
        </p:nvPicPr>
        <p:blipFill>
          <a:blip r:embed="rId3"/>
          <a:stretch>
            <a:fillRect/>
          </a:stretch>
        </p:blipFill>
        <p:spPr>
          <a:xfrm>
            <a:off x="4451776" y="1131295"/>
            <a:ext cx="3503506" cy="2993324"/>
          </a:xfrm>
          <a:prstGeom prst="rect">
            <a:avLst/>
          </a:prstGeom>
        </p:spPr>
      </p:pic>
      <p:sp>
        <p:nvSpPr>
          <p:cNvPr id="6" name="CuadroTexto 5">
            <a:extLst>
              <a:ext uri="{FF2B5EF4-FFF2-40B4-BE49-F238E27FC236}">
                <a16:creationId xmlns:a16="http://schemas.microsoft.com/office/drawing/2014/main" id="{E58B459B-9423-EE70-50E4-C10FC08EEC16}"/>
              </a:ext>
            </a:extLst>
          </p:cNvPr>
          <p:cNvSpPr txBox="1"/>
          <p:nvPr/>
        </p:nvSpPr>
        <p:spPr>
          <a:xfrm>
            <a:off x="8442960" y="4018187"/>
            <a:ext cx="2910840" cy="523220"/>
          </a:xfrm>
          <a:prstGeom prst="rect">
            <a:avLst/>
          </a:prstGeom>
          <a:noFill/>
        </p:spPr>
        <p:txBody>
          <a:bodyPr wrap="square" lIns="0" rIns="0">
            <a:normAutofit/>
          </a:bodyPr>
          <a:lstStyle>
            <a:defPPr>
              <a:defRPr lang="es-MX"/>
            </a:defPPr>
            <a:lvl1pPr>
              <a:defRPr sz="1400"/>
            </a:lvl1pPr>
          </a:lstStyle>
          <a:p>
            <a:r>
              <a:rPr lang="es-MX" dirty="0"/>
              <a:t>modelo de datos elaborados en draw.io.</a:t>
            </a:r>
          </a:p>
        </p:txBody>
      </p:sp>
      <p:pic>
        <p:nvPicPr>
          <p:cNvPr id="7" name="Imagen 6">
            <a:extLst>
              <a:ext uri="{FF2B5EF4-FFF2-40B4-BE49-F238E27FC236}">
                <a16:creationId xmlns:a16="http://schemas.microsoft.com/office/drawing/2014/main" id="{CB62EFFB-12A4-1F0C-8CDB-3563EC43CD4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71935" y="1877122"/>
            <a:ext cx="3353009" cy="1925381"/>
          </a:xfrm>
          <a:prstGeom prst="rect">
            <a:avLst/>
          </a:prstGeom>
          <a:noFill/>
          <a:ln>
            <a:noFill/>
          </a:ln>
        </p:spPr>
      </p:pic>
    </p:spTree>
    <p:extLst>
      <p:ext uri="{BB962C8B-B14F-4D97-AF65-F5344CB8AC3E}">
        <p14:creationId xmlns:p14="http://schemas.microsoft.com/office/powerpoint/2010/main" val="3527236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a:xfrm>
            <a:off x="838200" y="150000"/>
            <a:ext cx="10515600" cy="900000"/>
          </a:xfrm>
        </p:spPr>
        <p:txBody>
          <a:bodyPr>
            <a:normAutofit/>
          </a:bodyPr>
          <a:lstStyle/>
          <a:p>
            <a:r>
              <a:rPr lang="es-MX" sz="3600" b="1" dirty="0">
                <a:solidFill>
                  <a:schemeClr val="accent1"/>
                </a:solidFill>
              </a:rPr>
              <a:t>Evidencias: wireframes de las pantallas</a:t>
            </a:r>
          </a:p>
        </p:txBody>
      </p:sp>
      <p:pic>
        <p:nvPicPr>
          <p:cNvPr id="108" name="Wireframe de la agenda en Balsamiq" descr="Wireframe de la agenda en Balsamiq"/>
          <p:cNvPicPr>
            <a:picLocks noChangeAspect="1"/>
          </p:cNvPicPr>
          <p:nvPr/>
        </p:nvPicPr>
        <p:blipFill>
          <a:blip r:embed="rId2"/>
          <a:stretch>
            <a:fillRect/>
          </a:stretch>
        </p:blipFill>
        <p:spPr>
          <a:xfrm>
            <a:off x="838200" y="1300000"/>
            <a:ext cx="5107800" cy="2873137"/>
          </a:xfrm>
          <a:prstGeom prst="rect">
            <a:avLst/>
          </a:prstGeom>
          <a:ln w="9525">
            <a:solidFill>
              <a:srgbClr val="BFBFBF"/>
            </a:solidFill>
          </a:ln>
        </p:spPr>
      </p:pic>
      <p:pic>
        <p:nvPicPr>
          <p:cNvPr id="109" name="Wireframe de reportes en Balsamiq" descr="Wireframe de reportes en Balsamiq"/>
          <p:cNvPicPr>
            <a:picLocks noChangeAspect="1"/>
          </p:cNvPicPr>
          <p:nvPr/>
        </p:nvPicPr>
        <p:blipFill>
          <a:blip r:embed="rId3"/>
          <a:stretch>
            <a:fillRect/>
          </a:stretch>
        </p:blipFill>
        <p:spPr>
          <a:xfrm>
            <a:off x="6246000" y="1300000"/>
            <a:ext cx="5107800" cy="2873137"/>
          </a:xfrm>
          <a:prstGeom prst="rect">
            <a:avLst/>
          </a:prstGeom>
          <a:ln w="9525">
            <a:solidFill>
              <a:srgbClr val="BFBFBF"/>
            </a:solidFill>
          </a:ln>
        </p:spPr>
      </p:pic>
      <p:sp>
        <p:nvSpPr>
          <p:cNvPr id="110" name="Pie wireframes"/>
          <p:cNvSpPr txBox="1"/>
          <p:nvPr/>
        </p:nvSpPr>
        <p:spPr>
          <a:xfrm>
            <a:off x="4434840" y="4400194"/>
            <a:ext cx="4820920" cy="410000"/>
          </a:xfrm>
          <a:prstGeom prst="rect">
            <a:avLst/>
          </a:prstGeom>
          <a:noFill/>
        </p:spPr>
        <p:txBody>
          <a:bodyPr wrap="square" lIns="0" rIns="0">
            <a:normAutofit fontScale="85000" lnSpcReduction="10000"/>
          </a:bodyPr>
          <a:lstStyle>
            <a:defPPr>
              <a:defRPr lang="es-MX"/>
            </a:defPPr>
            <a:lvl1pPr>
              <a:defRPr sz="1400"/>
            </a:lvl1pPr>
          </a:lstStyle>
          <a:p>
            <a:r>
              <a:rPr lang="es-MX" dirty="0" err="1"/>
              <a:t>Wireframes</a:t>
            </a:r>
            <a:r>
              <a:rPr lang="es-MX" dirty="0"/>
              <a:t> en Balsamiq de la agenda semanal y de los reportes financieros </a:t>
            </a:r>
          </a:p>
        </p:txBody>
      </p:sp>
    </p:spTree>
    <p:extLst>
      <p:ext uri="{BB962C8B-B14F-4D97-AF65-F5344CB8AC3E}">
        <p14:creationId xmlns:p14="http://schemas.microsoft.com/office/powerpoint/2010/main" val="3527236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fontScale="92500" lnSpcReduction="20000"/>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El cuadro comparativo permitió identificar el estado actual del proyecto Agua Limpia La Aurora. Al 22 de octubre de 2026 el proyecto lleva un avance del 20 %: la planificación y el diseño están terminados, con el anteproyecto aprobado y el diseño validado por los dueños, sin retrasos con respecto al cronograma de nueve semanas.</a:t>
            </a:r>
          </a:p>
          <a:p>
            <a:pPr marL="0" indent="0" algn="just">
              <a:buNone/>
            </a:pPr>
            <a:r>
              <a:rPr lang="es-MX" dirty="0"/>
              <a:t>Como Project Manager se logró confirmar que las fases de las semanas 1 y 2 se cumplieron y establecer las acciones necesarias para iniciar el desarrollo el 25 de octubre. Comparar el avance con el anteproyecto y el Gantt permite detectar a tiempo cualquier retraso y cuidar el costo estimado de $22,275 MXN.</a:t>
            </a:r>
          </a:p>
          <a:p>
            <a:pPr marL="0" indent="0" algn="just">
              <a:buNone/>
            </a:pPr>
            <a:endParaRPr lang="es-MX" dirty="0"/>
          </a:p>
        </p:txBody>
      </p:sp>
    </p:spTree>
    <p:extLst>
      <p:ext uri="{BB962C8B-B14F-4D97-AF65-F5344CB8AC3E}">
        <p14:creationId xmlns:p14="http://schemas.microsoft.com/office/powerpoint/2010/main" val="415592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A0075-23DC-9820-03EC-BB9C50FCF13E}"/>
              </a:ext>
            </a:extLst>
          </p:cNvPr>
          <p:cNvSpPr>
            <a:spLocks noGrp="1"/>
          </p:cNvSpPr>
          <p:nvPr>
            <p:ph type="title"/>
          </p:nvPr>
        </p:nvSpPr>
        <p:spPr/>
        <p:txBody>
          <a:bodyPr vert="horz" lIns="91440" tIns="45720" rIns="91440" bIns="45720" rtlCol="0" anchor="ctr">
            <a:noAutofit/>
          </a:bodyPr>
          <a:lstStyle/>
          <a:p>
            <a:r>
              <a:rPr lang="es-MX" sz="3600" b="1" dirty="0">
                <a:solidFill>
                  <a:schemeClr val="accent1"/>
                </a:solidFill>
              </a:rPr>
              <a:t>Fuente De Información</a:t>
            </a:r>
          </a:p>
        </p:txBody>
      </p:sp>
      <p:sp>
        <p:nvSpPr>
          <p:cNvPr id="3" name="Marcador de contenido 2">
            <a:extLst>
              <a:ext uri="{FF2B5EF4-FFF2-40B4-BE49-F238E27FC236}">
                <a16:creationId xmlns:a16="http://schemas.microsoft.com/office/drawing/2014/main" id="{EDEDD0C2-4503-5EC0-BBD2-E720A1C3AB4B}"/>
              </a:ext>
            </a:extLst>
          </p:cNvPr>
          <p:cNvSpPr>
            <a:spLocks noGrp="1"/>
          </p:cNvSpPr>
          <p:nvPr>
            <p:ph idx="1"/>
          </p:nvPr>
        </p:nvSpPr>
        <p:spPr/>
        <p:txBody>
          <a:bodyPr>
            <a:normAutofit fontScale="92500" lnSpcReduction="10000"/>
          </a:bodyPr>
          <a:lstStyle/>
          <a:p>
            <a:pPr marL="0" indent="0">
              <a:buNone/>
            </a:pPr>
            <a:r>
              <a:rPr lang="es-MX" dirty="0"/>
              <a:t>Rafaelrav8770. (s. f.). GPS [Repositorio de código fuente]. GitHub. </a:t>
            </a:r>
            <a:r>
              <a:rPr lang="es-MX" dirty="0">
                <a:hlinkClick r:id="rId2"/>
              </a:rPr>
              <a:t>https://github.com/rafaelrav8770/GPS.git </a:t>
            </a:r>
            <a:endParaRPr lang="es-MX" dirty="0"/>
          </a:p>
          <a:p>
            <a:r>
              <a:rPr lang="es-MX" dirty="0"/>
              <a:t>Aquino Villanueva, R. (2026). </a:t>
            </a:r>
            <a:r>
              <a:rPr lang="es-MX" i="1" dirty="0"/>
              <a:t>Anteproyecto: Sistema web de pedidos de pipas de agua Agua Limpia La Aurora</a:t>
            </a:r>
            <a:r>
              <a:rPr lang="es-MX" dirty="0"/>
              <a:t> [Documento académico]. </a:t>
            </a:r>
            <a:r>
              <a:rPr lang="es-MX" dirty="0">
                <a:hlinkClick r:id="rId2"/>
              </a:rPr>
              <a:t>https://github.com/rafaelrav8770/GPS.git </a:t>
            </a:r>
            <a:endParaRPr lang="es-MX" dirty="0"/>
          </a:p>
          <a:p>
            <a:pPr marL="0" indent="0">
              <a:buNone/>
            </a:pPr>
            <a:r>
              <a:rPr lang="es-MX" dirty="0"/>
              <a:t>Material proporcionado en clase. (2026). </a:t>
            </a:r>
            <a:r>
              <a:rPr lang="es-MX" i="1" dirty="0"/>
              <a:t>Unidad I: Introducción a la gestión de proyectos</a:t>
            </a:r>
            <a:r>
              <a:rPr lang="es-MX" dirty="0"/>
              <a:t>. Gestión de Proyectos de Software, Tecnológico Nacional de México.</a:t>
            </a:r>
          </a:p>
          <a:p>
            <a:pPr marL="0" indent="0">
              <a:buNone/>
            </a:pPr>
            <a:r>
              <a:rPr lang="es-MX" dirty="0"/>
              <a:t>Project Management Institute. (2025). </a:t>
            </a:r>
            <a:r>
              <a:rPr lang="es-MX" i="1" dirty="0"/>
              <a:t>A guide to the project management body of knowledge (PMBOK® guide)</a:t>
            </a:r>
            <a:r>
              <a:rPr lang="es-MX" dirty="0"/>
              <a:t> (8.ª ed.). </a:t>
            </a:r>
            <a:r>
              <a:rPr lang="es-MX" dirty="0">
                <a:hlinkClick r:id="rId3"/>
              </a:rPr>
              <a:t>https://www.pmi.org/standards/pmbok</a:t>
            </a:r>
            <a:endParaRPr lang="es-MX" dirty="0"/>
          </a:p>
          <a:p>
            <a:endParaRPr lang="es-MX" dirty="0"/>
          </a:p>
        </p:txBody>
      </p:sp>
    </p:spTree>
    <p:extLst>
      <p:ext uri="{BB962C8B-B14F-4D97-AF65-F5344CB8AC3E}">
        <p14:creationId xmlns:p14="http://schemas.microsoft.com/office/powerpoint/2010/main" val="323694320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C577EB8-E818-49A8-BBB4-ACB17B06BBAE}">
  <we:reference id="wa200010001" version="1.0.0.1" store="es-ES" storeType="OMEX"/>
  <we:alternateReferences>
    <we:reference id="WA200010001" version="1.0.0.1" store="" storeType="OMEX"/>
  </we:alternateReferences>
  <we:properties>
    <we:property name="claude.fileId" value="&quot;f66e2275-14ae-4db6-803c-3642f3e6835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4323</TotalTime>
  <Words>1342</Words>
  <Application>Microsoft Office PowerPoint</Application>
  <PresentationFormat>Panorámica</PresentationFormat>
  <Paragraphs>151</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Times New Roman</vt:lpstr>
      <vt:lpstr>Tema de Office</vt:lpstr>
      <vt:lpstr>Presentación de PowerPoint</vt:lpstr>
      <vt:lpstr>Presentación de PowerPoint</vt:lpstr>
      <vt:lpstr>Presentación de PowerPoint</vt:lpstr>
      <vt:lpstr>justificación</vt:lpstr>
      <vt:lpstr>Anteproyecto</vt:lpstr>
      <vt:lpstr>Cuadro comparativo de gestión: avance de cada fase con respecto a su cronograma.</vt:lpstr>
      <vt:lpstr>Análisis y seguimiento del proyecto</vt:lpstr>
      <vt:lpstr>Bitácora de seguimiento</vt:lpstr>
      <vt:lpstr>Evidencias: cronograma y diseño</vt:lpstr>
      <vt:lpstr>Evidencias: wireframes de las pantallas</vt:lpstr>
      <vt:lpstr>Presentación de PowerPoint</vt:lpstr>
      <vt:lpstr>Fuente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55</cp:revision>
  <dcterms:created xsi:type="dcterms:W3CDTF">2026-02-14T13:39:49Z</dcterms:created>
  <dcterms:modified xsi:type="dcterms:W3CDTF">2026-11-01T14:06:09Z</dcterms:modified>
</cp:coreProperties>
</file>